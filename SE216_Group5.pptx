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grandir Medium" charset="1" panose="00000600000000000000"/>
      <p:regular r:id="rId27"/>
    </p:embeddedFont>
    <p:embeddedFont>
      <p:font typeface="Poppins" charset="1" panose="00000500000000000000"/>
      <p:regular r:id="rId28"/>
    </p:embeddedFont>
    <p:embeddedFont>
      <p:font typeface="Helvetica Now Display" charset="1" panose="020B0504030202020204"/>
      <p:regular r:id="rId29"/>
    </p:embeddedFont>
    <p:embeddedFont>
      <p:font typeface="Old Standard" charset="1" panose="02040503050505020303"/>
      <p:regular r:id="rId30"/>
    </p:embeddedFont>
    <p:embeddedFont>
      <p:font typeface="Playfair Display" charset="1" panose="00000000000000000000"/>
      <p:regular r:id="rId31"/>
    </p:embeddedFont>
    <p:embeddedFont>
      <p:font typeface="Playpen Sans Bold" charset="1" panose="00000000000000000000"/>
      <p:regular r:id="rId32"/>
    </p:embeddedFont>
    <p:embeddedFont>
      <p:font typeface="Playpen Sans Semi-Bold" charset="1" panose="00000000000000000000"/>
      <p:regular r:id="rId33"/>
    </p:embeddedFont>
    <p:embeddedFont>
      <p:font typeface="Playpen Sans" charset="1" panose="00000000000000000000"/>
      <p:regular r:id="rId34"/>
    </p:embeddedFont>
    <p:embeddedFont>
      <p:font typeface="Agrandir" charset="1" panose="00000500000000000000"/>
      <p:regular r:id="rId35"/>
    </p:embeddedFont>
    <p:embeddedFont>
      <p:font typeface="Poppins Bold" charset="1" panose="00000800000000000000"/>
      <p:regular r:id="rId36"/>
    </p:embeddedFont>
    <p:embeddedFont>
      <p:font typeface="Helvetica Now Display Bold" charset="1" panose="020B0804030202020204"/>
      <p:regular r:id="rId37"/>
    </p:embeddedFont>
    <p:embeddedFont>
      <p:font typeface="Playfair Display Bold"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30156" y="404716"/>
            <a:ext cx="5835902" cy="2551364"/>
          </a:xfrm>
          <a:custGeom>
            <a:avLst/>
            <a:gdLst/>
            <a:ahLst/>
            <a:cxnLst/>
            <a:rect r="r" b="b" t="t" l="l"/>
            <a:pathLst>
              <a:path h="2551364" w="5835902">
                <a:moveTo>
                  <a:pt x="0" y="0"/>
                </a:moveTo>
                <a:lnTo>
                  <a:pt x="5835902" y="0"/>
                </a:lnTo>
                <a:lnTo>
                  <a:pt x="5835902" y="2551364"/>
                </a:lnTo>
                <a:lnTo>
                  <a:pt x="0" y="2551364"/>
                </a:lnTo>
                <a:lnTo>
                  <a:pt x="0" y="0"/>
                </a:lnTo>
                <a:close/>
              </a:path>
            </a:pathLst>
          </a:custGeom>
          <a:blipFill>
            <a:blip r:embed="rId2"/>
            <a:stretch>
              <a:fillRect l="-13711" t="0" r="-13711" b="0"/>
            </a:stretch>
          </a:blipFill>
        </p:spPr>
      </p:sp>
      <p:grpSp>
        <p:nvGrpSpPr>
          <p:cNvPr name="Group 3" id="3"/>
          <p:cNvGrpSpPr/>
          <p:nvPr/>
        </p:nvGrpSpPr>
        <p:grpSpPr>
          <a:xfrm rot="0">
            <a:off x="8475858" y="6444015"/>
            <a:ext cx="3987542" cy="624471"/>
            <a:chOff x="0" y="0"/>
            <a:chExt cx="1050217" cy="164470"/>
          </a:xfrm>
        </p:grpSpPr>
        <p:sp>
          <p:nvSpPr>
            <p:cNvPr name="Freeform 4" id="4"/>
            <p:cNvSpPr/>
            <p:nvPr/>
          </p:nvSpPr>
          <p:spPr>
            <a:xfrm flipH="false" flipV="false" rot="0">
              <a:off x="0" y="0"/>
              <a:ext cx="1050217" cy="164470"/>
            </a:xfrm>
            <a:custGeom>
              <a:avLst/>
              <a:gdLst/>
              <a:ahLst/>
              <a:cxnLst/>
              <a:rect r="r" b="b" t="t" l="l"/>
              <a:pathLst>
                <a:path h="164470" w="1050217">
                  <a:moveTo>
                    <a:pt x="82235" y="0"/>
                  </a:moveTo>
                  <a:lnTo>
                    <a:pt x="967982" y="0"/>
                  </a:lnTo>
                  <a:cubicBezTo>
                    <a:pt x="989792" y="0"/>
                    <a:pt x="1010709" y="8664"/>
                    <a:pt x="1026131" y="24086"/>
                  </a:cubicBezTo>
                  <a:cubicBezTo>
                    <a:pt x="1041553" y="39508"/>
                    <a:pt x="1050217" y="60425"/>
                    <a:pt x="1050217" y="82235"/>
                  </a:cubicBezTo>
                  <a:lnTo>
                    <a:pt x="1050217" y="82235"/>
                  </a:lnTo>
                  <a:cubicBezTo>
                    <a:pt x="1050217" y="127652"/>
                    <a:pt x="1013399" y="164470"/>
                    <a:pt x="967982" y="164470"/>
                  </a:cubicBezTo>
                  <a:lnTo>
                    <a:pt x="82235" y="164470"/>
                  </a:lnTo>
                  <a:cubicBezTo>
                    <a:pt x="60425" y="164470"/>
                    <a:pt x="39508" y="155806"/>
                    <a:pt x="24086" y="140384"/>
                  </a:cubicBezTo>
                  <a:cubicBezTo>
                    <a:pt x="8664" y="124962"/>
                    <a:pt x="0" y="104045"/>
                    <a:pt x="0" y="82235"/>
                  </a:cubicBezTo>
                  <a:lnTo>
                    <a:pt x="0" y="82235"/>
                  </a:lnTo>
                  <a:cubicBezTo>
                    <a:pt x="0" y="60425"/>
                    <a:pt x="8664" y="39508"/>
                    <a:pt x="24086" y="24086"/>
                  </a:cubicBezTo>
                  <a:cubicBezTo>
                    <a:pt x="39508" y="8664"/>
                    <a:pt x="60425" y="0"/>
                    <a:pt x="82235" y="0"/>
                  </a:cubicBezTo>
                  <a:close/>
                </a:path>
              </a:pathLst>
            </a:custGeom>
            <a:solidFill>
              <a:srgbClr val="5B4730"/>
            </a:solidFill>
          </p:spPr>
        </p:sp>
        <p:sp>
          <p:nvSpPr>
            <p:cNvPr name="TextBox 5" id="5"/>
            <p:cNvSpPr txBox="true"/>
            <p:nvPr/>
          </p:nvSpPr>
          <p:spPr>
            <a:xfrm>
              <a:off x="0" y="-95250"/>
              <a:ext cx="1050217" cy="259720"/>
            </a:xfrm>
            <a:prstGeom prst="rect">
              <a:avLst/>
            </a:prstGeom>
          </p:spPr>
          <p:txBody>
            <a:bodyPr anchor="ctr" rtlCol="false" tIns="50800" lIns="50800" bIns="50800" rIns="50800"/>
            <a:lstStyle/>
            <a:p>
              <a:pPr algn="ctr" marL="0" indent="0" lvl="0">
                <a:lnSpc>
                  <a:spcPts val="3385"/>
                </a:lnSpc>
              </a:pPr>
            </a:p>
          </p:txBody>
        </p:sp>
      </p:grpSp>
      <p:sp>
        <p:nvSpPr>
          <p:cNvPr name="AutoShape 6" id="6"/>
          <p:cNvSpPr/>
          <p:nvPr/>
        </p:nvSpPr>
        <p:spPr>
          <a:xfrm>
            <a:off x="10954652" y="6807842"/>
            <a:ext cx="692261" cy="4762"/>
          </a:xfrm>
          <a:prstGeom prst="line">
            <a:avLst/>
          </a:prstGeom>
          <a:ln cap="flat" w="19050">
            <a:solidFill>
              <a:srgbClr val="FFFFFF"/>
            </a:solidFill>
            <a:prstDash val="solid"/>
            <a:headEnd type="none" len="sm" w="sm"/>
            <a:tailEnd type="arrow" len="sm" w="med"/>
          </a:ln>
        </p:spPr>
      </p:sp>
      <p:grpSp>
        <p:nvGrpSpPr>
          <p:cNvPr name="Group 7" id="7"/>
          <p:cNvGrpSpPr/>
          <p:nvPr/>
        </p:nvGrpSpPr>
        <p:grpSpPr>
          <a:xfrm rot="0">
            <a:off x="0" y="-994964"/>
            <a:ext cx="7413380" cy="6306039"/>
            <a:chOff x="0" y="0"/>
            <a:chExt cx="71335651" cy="60680201"/>
          </a:xfrm>
        </p:grpSpPr>
        <p:sp>
          <p:nvSpPr>
            <p:cNvPr name="Freeform 8" id="8"/>
            <p:cNvSpPr/>
            <p:nvPr/>
          </p:nvSpPr>
          <p:spPr>
            <a:xfrm flipH="false" flipV="false" rot="0">
              <a:off x="0" y="0"/>
              <a:ext cx="71335652" cy="60680203"/>
            </a:xfrm>
            <a:custGeom>
              <a:avLst/>
              <a:gdLst/>
              <a:ahLst/>
              <a:cxnLst/>
              <a:rect r="r" b="b" t="t" l="l"/>
              <a:pathLst>
                <a:path h="60680203" w="71335652">
                  <a:moveTo>
                    <a:pt x="78324" y="0"/>
                  </a:moveTo>
                  <a:lnTo>
                    <a:pt x="71257331" y="0"/>
                  </a:lnTo>
                  <a:cubicBezTo>
                    <a:pt x="71278099" y="0"/>
                    <a:pt x="71298023" y="8252"/>
                    <a:pt x="71312714" y="22941"/>
                  </a:cubicBezTo>
                  <a:cubicBezTo>
                    <a:pt x="71327398" y="37629"/>
                    <a:pt x="71335652" y="57551"/>
                    <a:pt x="71335652" y="78324"/>
                  </a:cubicBezTo>
                  <a:lnTo>
                    <a:pt x="71335652" y="60601882"/>
                  </a:lnTo>
                  <a:cubicBezTo>
                    <a:pt x="71335652" y="60622650"/>
                    <a:pt x="71327398" y="60642574"/>
                    <a:pt x="71312714" y="60657265"/>
                  </a:cubicBezTo>
                  <a:cubicBezTo>
                    <a:pt x="71298023" y="60671949"/>
                    <a:pt x="71278099" y="60680203"/>
                    <a:pt x="71257331" y="60680203"/>
                  </a:cubicBezTo>
                  <a:lnTo>
                    <a:pt x="78324" y="60680203"/>
                  </a:lnTo>
                  <a:cubicBezTo>
                    <a:pt x="57551" y="60680203"/>
                    <a:pt x="37629" y="60671949"/>
                    <a:pt x="22941" y="60657265"/>
                  </a:cubicBezTo>
                  <a:cubicBezTo>
                    <a:pt x="8252" y="60642574"/>
                    <a:pt x="0" y="60622650"/>
                    <a:pt x="0" y="60601882"/>
                  </a:cubicBezTo>
                  <a:lnTo>
                    <a:pt x="0" y="78324"/>
                  </a:lnTo>
                  <a:cubicBezTo>
                    <a:pt x="0" y="57551"/>
                    <a:pt x="8252" y="37629"/>
                    <a:pt x="22941" y="22941"/>
                  </a:cubicBezTo>
                  <a:cubicBezTo>
                    <a:pt x="37629" y="8252"/>
                    <a:pt x="57551" y="0"/>
                    <a:pt x="78324" y="0"/>
                  </a:cubicBezTo>
                  <a:close/>
                </a:path>
              </a:pathLst>
            </a:custGeom>
            <a:blipFill>
              <a:blip r:embed="rId3"/>
              <a:stretch>
                <a:fillRect l="-2589" t="0" r="-2589" b="0"/>
              </a:stretch>
            </a:blipFill>
          </p:spPr>
        </p:sp>
      </p:grpSp>
      <p:grpSp>
        <p:nvGrpSpPr>
          <p:cNvPr name="Group 9" id="9"/>
          <p:cNvGrpSpPr/>
          <p:nvPr/>
        </p:nvGrpSpPr>
        <p:grpSpPr>
          <a:xfrm rot="0">
            <a:off x="0" y="5311076"/>
            <a:ext cx="7924118" cy="6740488"/>
            <a:chOff x="0" y="0"/>
            <a:chExt cx="71335651" cy="60680201"/>
          </a:xfrm>
        </p:grpSpPr>
        <p:sp>
          <p:nvSpPr>
            <p:cNvPr name="Freeform 10" id="10"/>
            <p:cNvSpPr/>
            <p:nvPr/>
          </p:nvSpPr>
          <p:spPr>
            <a:xfrm flipH="false" flipV="false" rot="0">
              <a:off x="0" y="0"/>
              <a:ext cx="71335652" cy="60680203"/>
            </a:xfrm>
            <a:custGeom>
              <a:avLst/>
              <a:gdLst/>
              <a:ahLst/>
              <a:cxnLst/>
              <a:rect r="r" b="b" t="t" l="l"/>
              <a:pathLst>
                <a:path h="60680203" w="71335652">
                  <a:moveTo>
                    <a:pt x="73276" y="0"/>
                  </a:moveTo>
                  <a:lnTo>
                    <a:pt x="71262379" y="0"/>
                  </a:lnTo>
                  <a:cubicBezTo>
                    <a:pt x="71302848" y="0"/>
                    <a:pt x="71335652" y="32807"/>
                    <a:pt x="71335652" y="73276"/>
                  </a:cubicBezTo>
                  <a:lnTo>
                    <a:pt x="71335652" y="60606930"/>
                  </a:lnTo>
                  <a:cubicBezTo>
                    <a:pt x="71335652" y="60647399"/>
                    <a:pt x="71302848" y="60680203"/>
                    <a:pt x="71262379" y="60680203"/>
                  </a:cubicBezTo>
                  <a:lnTo>
                    <a:pt x="73276" y="60680203"/>
                  </a:lnTo>
                  <a:cubicBezTo>
                    <a:pt x="32807" y="60680203"/>
                    <a:pt x="0" y="60647399"/>
                    <a:pt x="0" y="60606930"/>
                  </a:cubicBezTo>
                  <a:lnTo>
                    <a:pt x="0" y="73276"/>
                  </a:lnTo>
                  <a:cubicBezTo>
                    <a:pt x="0" y="32807"/>
                    <a:pt x="32807" y="0"/>
                    <a:pt x="73276" y="0"/>
                  </a:cubicBezTo>
                  <a:close/>
                </a:path>
              </a:pathLst>
            </a:custGeom>
            <a:blipFill>
              <a:blip r:embed="rId4"/>
              <a:stretch>
                <a:fillRect l="-13837" t="0" r="-13837" b="0"/>
              </a:stretch>
            </a:blipFill>
          </p:spPr>
        </p:sp>
      </p:grpSp>
      <p:sp>
        <p:nvSpPr>
          <p:cNvPr name="Freeform 11" id="11"/>
          <p:cNvSpPr/>
          <p:nvPr/>
        </p:nvSpPr>
        <p:spPr>
          <a:xfrm flipH="false" flipV="false" rot="36000">
            <a:off x="14715138" y="4038800"/>
            <a:ext cx="1747211" cy="1462267"/>
          </a:xfrm>
          <a:custGeom>
            <a:avLst/>
            <a:gdLst/>
            <a:ahLst/>
            <a:cxnLst/>
            <a:rect r="r" b="b" t="t" l="l"/>
            <a:pathLst>
              <a:path h="1462267" w="1747211">
                <a:moveTo>
                  <a:pt x="0" y="18139"/>
                </a:moveTo>
                <a:lnTo>
                  <a:pt x="1732087" y="0"/>
                </a:lnTo>
                <a:lnTo>
                  <a:pt x="1747211" y="1444128"/>
                </a:lnTo>
                <a:lnTo>
                  <a:pt x="15123" y="1462267"/>
                </a:lnTo>
                <a:lnTo>
                  <a:pt x="0" y="18139"/>
                </a:lnTo>
                <a:close/>
              </a:path>
            </a:pathLst>
          </a:custGeom>
          <a:blipFill>
            <a:blip r:embed="rId5"/>
            <a:stretch>
              <a:fillRect l="-202" t="-3096" r="-3241" b="44"/>
            </a:stretch>
          </a:blipFill>
        </p:spPr>
      </p:sp>
      <p:sp>
        <p:nvSpPr>
          <p:cNvPr name="Freeform 12" id="12"/>
          <p:cNvSpPr/>
          <p:nvPr/>
        </p:nvSpPr>
        <p:spPr>
          <a:xfrm flipH="false" flipV="false" rot="0">
            <a:off x="13200296" y="3369387"/>
            <a:ext cx="4942445" cy="6236523"/>
          </a:xfrm>
          <a:custGeom>
            <a:avLst/>
            <a:gdLst/>
            <a:ahLst/>
            <a:cxnLst/>
            <a:rect r="r" b="b" t="t" l="l"/>
            <a:pathLst>
              <a:path h="6236523" w="4942445">
                <a:moveTo>
                  <a:pt x="0" y="0"/>
                </a:moveTo>
                <a:lnTo>
                  <a:pt x="4942445" y="0"/>
                </a:lnTo>
                <a:lnTo>
                  <a:pt x="4942445" y="6236523"/>
                </a:lnTo>
                <a:lnTo>
                  <a:pt x="0" y="62365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7924118" y="328516"/>
            <a:ext cx="7119407" cy="2804651"/>
          </a:xfrm>
          <a:prstGeom prst="rect">
            <a:avLst/>
          </a:prstGeom>
        </p:spPr>
        <p:txBody>
          <a:bodyPr anchor="t" rtlCol="false" tIns="0" lIns="0" bIns="0" rIns="0">
            <a:spAutoFit/>
          </a:bodyPr>
          <a:lstStyle/>
          <a:p>
            <a:pPr algn="l">
              <a:lnSpc>
                <a:spcPts val="5226"/>
              </a:lnSpc>
            </a:pPr>
            <a:r>
              <a:rPr lang="en-US" sz="4839" b="true">
                <a:solidFill>
                  <a:srgbClr val="010101"/>
                </a:solidFill>
                <a:latin typeface="Agrandir Medium"/>
                <a:ea typeface="Agrandir Medium"/>
                <a:cs typeface="Agrandir Medium"/>
                <a:sym typeface="Agrandir Medium"/>
              </a:rPr>
              <a:t>A Centralized Platform</a:t>
            </a:r>
          </a:p>
          <a:p>
            <a:pPr algn="l">
              <a:lnSpc>
                <a:spcPts val="5226"/>
              </a:lnSpc>
            </a:pPr>
            <a:r>
              <a:rPr lang="en-US" sz="4839" b="true">
                <a:solidFill>
                  <a:srgbClr val="010101"/>
                </a:solidFill>
                <a:latin typeface="Agrandir Medium"/>
                <a:ea typeface="Agrandir Medium"/>
                <a:cs typeface="Agrandir Medium"/>
                <a:sym typeface="Agrandir Medium"/>
              </a:rPr>
              <a:t>for Educational and Career Opportunities</a:t>
            </a:r>
          </a:p>
          <a:p>
            <a:pPr algn="l" marL="0" indent="0" lvl="0">
              <a:lnSpc>
                <a:spcPts val="5226"/>
              </a:lnSpc>
            </a:pPr>
          </a:p>
        </p:txBody>
      </p:sp>
      <p:sp>
        <p:nvSpPr>
          <p:cNvPr name="TextBox 14" id="14"/>
          <p:cNvSpPr txBox="true"/>
          <p:nvPr/>
        </p:nvSpPr>
        <p:spPr>
          <a:xfrm rot="0">
            <a:off x="7924118" y="2612339"/>
            <a:ext cx="8123988" cy="370066"/>
          </a:xfrm>
          <a:prstGeom prst="rect">
            <a:avLst/>
          </a:prstGeom>
        </p:spPr>
        <p:txBody>
          <a:bodyPr anchor="t" rtlCol="false" tIns="0" lIns="0" bIns="0" rIns="0">
            <a:spAutoFit/>
          </a:bodyPr>
          <a:lstStyle/>
          <a:p>
            <a:pPr algn="l" marL="0" indent="0" lvl="0">
              <a:lnSpc>
                <a:spcPts val="2902"/>
              </a:lnSpc>
            </a:pPr>
            <a:r>
              <a:rPr lang="en-US" sz="2072">
                <a:solidFill>
                  <a:srgbClr val="010101"/>
                </a:solidFill>
                <a:latin typeface="Poppins"/>
                <a:ea typeface="Poppins"/>
                <a:cs typeface="Poppins"/>
                <a:sym typeface="Poppins"/>
              </a:rPr>
              <a:t>Explor</a:t>
            </a:r>
            <a:r>
              <a:rPr lang="en-US" sz="2072">
                <a:solidFill>
                  <a:srgbClr val="010101"/>
                </a:solidFill>
                <a:latin typeface="Poppins"/>
                <a:ea typeface="Poppins"/>
                <a:cs typeface="Poppins"/>
                <a:sym typeface="Poppins"/>
              </a:rPr>
              <a:t>e internship and job opportunities in one place.</a:t>
            </a:r>
          </a:p>
        </p:txBody>
      </p:sp>
      <p:sp>
        <p:nvSpPr>
          <p:cNvPr name="TextBox 15" id="15"/>
          <p:cNvSpPr txBox="true"/>
          <p:nvPr/>
        </p:nvSpPr>
        <p:spPr>
          <a:xfrm rot="0">
            <a:off x="8717608" y="6711315"/>
            <a:ext cx="1446403" cy="250203"/>
          </a:xfrm>
          <a:prstGeom prst="rect">
            <a:avLst/>
          </a:prstGeom>
        </p:spPr>
        <p:txBody>
          <a:bodyPr anchor="t" rtlCol="false" tIns="0" lIns="0" bIns="0" rIns="0">
            <a:spAutoFit/>
          </a:bodyPr>
          <a:lstStyle/>
          <a:p>
            <a:pPr algn="l" marL="0" indent="0" lvl="0">
              <a:lnSpc>
                <a:spcPts val="1986"/>
              </a:lnSpc>
            </a:pPr>
            <a:r>
              <a:rPr lang="en-US" sz="1839" spc="125">
                <a:solidFill>
                  <a:srgbClr val="FFFFFF"/>
                </a:solidFill>
                <a:latin typeface="Helvetica Now Display"/>
                <a:ea typeface="Helvetica Now Display"/>
                <a:cs typeface="Helvetica Now Display"/>
                <a:sym typeface="Helvetica Now Display"/>
              </a:rPr>
              <a:t>EXPLORE</a:t>
            </a:r>
          </a:p>
        </p:txBody>
      </p:sp>
      <p:sp>
        <p:nvSpPr>
          <p:cNvPr name="TextBox 16" id="16"/>
          <p:cNvSpPr txBox="true"/>
          <p:nvPr/>
        </p:nvSpPr>
        <p:spPr>
          <a:xfrm rot="0">
            <a:off x="8291412" y="3537585"/>
            <a:ext cx="4356434" cy="3116580"/>
          </a:xfrm>
          <a:prstGeom prst="rect">
            <a:avLst/>
          </a:prstGeom>
        </p:spPr>
        <p:txBody>
          <a:bodyPr anchor="t" rtlCol="false" tIns="0" lIns="0" bIns="0" rIns="0">
            <a:spAutoFit/>
          </a:bodyPr>
          <a:lstStyle/>
          <a:p>
            <a:pPr algn="ctr">
              <a:lnSpc>
                <a:spcPts val="3083"/>
              </a:lnSpc>
            </a:pPr>
            <a:r>
              <a:rPr lang="en-US" sz="2202">
                <a:solidFill>
                  <a:srgbClr val="010101"/>
                </a:solidFill>
                <a:latin typeface="Old Standard"/>
                <a:ea typeface="Old Standard"/>
                <a:cs typeface="Old Standard"/>
                <a:sym typeface="Old Standard"/>
              </a:rPr>
              <a:t>Doruk Yaşar 20230602514</a:t>
            </a:r>
          </a:p>
          <a:p>
            <a:pPr algn="ctr">
              <a:lnSpc>
                <a:spcPts val="3083"/>
              </a:lnSpc>
            </a:pPr>
            <a:r>
              <a:rPr lang="en-US" sz="2202">
                <a:solidFill>
                  <a:srgbClr val="010101"/>
                </a:solidFill>
                <a:latin typeface="Old Standard"/>
                <a:ea typeface="Old Standard"/>
                <a:cs typeface="Old Standard"/>
                <a:sym typeface="Old Standard"/>
              </a:rPr>
              <a:t>Kaan Dönmez 20210601202</a:t>
            </a:r>
          </a:p>
          <a:p>
            <a:pPr algn="ctr">
              <a:lnSpc>
                <a:spcPts val="3083"/>
              </a:lnSpc>
            </a:pPr>
            <a:r>
              <a:rPr lang="en-US" sz="2202">
                <a:solidFill>
                  <a:srgbClr val="010101"/>
                </a:solidFill>
                <a:latin typeface="Old Standard"/>
                <a:ea typeface="Old Standard"/>
                <a:cs typeface="Old Standard"/>
                <a:sym typeface="Old Standard"/>
              </a:rPr>
              <a:t>Selin Tay 20230601069</a:t>
            </a:r>
          </a:p>
          <a:p>
            <a:pPr algn="ctr">
              <a:lnSpc>
                <a:spcPts val="3083"/>
              </a:lnSpc>
            </a:pPr>
            <a:r>
              <a:rPr lang="en-US" sz="2202">
                <a:solidFill>
                  <a:srgbClr val="010101"/>
                </a:solidFill>
                <a:latin typeface="Old Standard"/>
                <a:ea typeface="Old Standard"/>
                <a:cs typeface="Old Standard"/>
                <a:sym typeface="Old Standard"/>
              </a:rPr>
              <a:t>Ömer Şen 20240601071</a:t>
            </a:r>
          </a:p>
          <a:p>
            <a:pPr algn="ctr">
              <a:lnSpc>
                <a:spcPts val="3083"/>
              </a:lnSpc>
            </a:pPr>
            <a:r>
              <a:rPr lang="en-US" sz="2202">
                <a:solidFill>
                  <a:srgbClr val="010101"/>
                </a:solidFill>
                <a:latin typeface="Old Standard"/>
                <a:ea typeface="Old Standard"/>
                <a:cs typeface="Old Standard"/>
                <a:sym typeface="Old Standard"/>
              </a:rPr>
              <a:t>Baran Deniz Aydın 20230601011</a:t>
            </a:r>
          </a:p>
          <a:p>
            <a:pPr algn="ctr">
              <a:lnSpc>
                <a:spcPts val="3083"/>
              </a:lnSpc>
            </a:pPr>
            <a:r>
              <a:rPr lang="en-US" sz="2202">
                <a:solidFill>
                  <a:srgbClr val="010101"/>
                </a:solidFill>
                <a:latin typeface="Old Standard"/>
                <a:ea typeface="Old Standard"/>
                <a:cs typeface="Old Standard"/>
                <a:sym typeface="Old Standard"/>
              </a:rPr>
              <a:t>Salih Batuhan Şener 20250601294</a:t>
            </a:r>
          </a:p>
          <a:p>
            <a:pPr algn="ctr">
              <a:lnSpc>
                <a:spcPts val="3083"/>
              </a:lnSpc>
            </a:pPr>
            <a:r>
              <a:rPr lang="en-US" sz="2202">
                <a:solidFill>
                  <a:srgbClr val="010101"/>
                </a:solidFill>
                <a:latin typeface="Old Standard"/>
                <a:ea typeface="Old Standard"/>
                <a:cs typeface="Old Standard"/>
                <a:sym typeface="Old Standard"/>
              </a:rPr>
              <a:t>Hilal Seray Ortan 20240601059</a:t>
            </a:r>
          </a:p>
          <a:p>
            <a:pPr algn="ctr">
              <a:lnSpc>
                <a:spcPts val="3083"/>
              </a:lnSpc>
            </a:pPr>
          </a:p>
        </p:txBody>
      </p:sp>
      <p:sp>
        <p:nvSpPr>
          <p:cNvPr name="TextBox 17" id="17"/>
          <p:cNvSpPr txBox="true"/>
          <p:nvPr/>
        </p:nvSpPr>
        <p:spPr>
          <a:xfrm rot="0">
            <a:off x="9769108" y="3066492"/>
            <a:ext cx="1401041" cy="539115"/>
          </a:xfrm>
          <a:prstGeom prst="rect">
            <a:avLst/>
          </a:prstGeom>
        </p:spPr>
        <p:txBody>
          <a:bodyPr anchor="t" rtlCol="false" tIns="0" lIns="0" bIns="0" rIns="0">
            <a:spAutoFit/>
          </a:bodyPr>
          <a:lstStyle/>
          <a:p>
            <a:pPr algn="ctr">
              <a:lnSpc>
                <a:spcPts val="4409"/>
              </a:lnSpc>
            </a:pPr>
            <a:r>
              <a:rPr lang="en-US" sz="3150">
                <a:solidFill>
                  <a:srgbClr val="010101"/>
                </a:solidFill>
                <a:latin typeface="Playfair Display"/>
                <a:ea typeface="Playfair Display"/>
                <a:cs typeface="Playfair Display"/>
                <a:sym typeface="Playfair Display"/>
              </a:rPr>
              <a:t>Group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244639" y="-1145600"/>
            <a:ext cx="2674315" cy="2674315"/>
            <a:chOff x="0" y="0"/>
            <a:chExt cx="762000" cy="762000"/>
          </a:xfrm>
        </p:grpSpPr>
        <p:sp>
          <p:nvSpPr>
            <p:cNvPr name="Freeform 3" id="3"/>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F5400">
                <a:alpha val="69804"/>
              </a:srgbClr>
            </a:solidFill>
          </p:spPr>
        </p:sp>
      </p:grpSp>
      <p:grpSp>
        <p:nvGrpSpPr>
          <p:cNvPr name="Group 4" id="4"/>
          <p:cNvGrpSpPr/>
          <p:nvPr/>
        </p:nvGrpSpPr>
        <p:grpSpPr>
          <a:xfrm rot="0">
            <a:off x="4621608" y="9182143"/>
            <a:ext cx="1987700" cy="1987700"/>
            <a:chOff x="0" y="0"/>
            <a:chExt cx="444500" cy="444500"/>
          </a:xfrm>
        </p:grpSpPr>
        <p:sp>
          <p:nvSpPr>
            <p:cNvPr name="Freeform 5" id="5"/>
            <p:cNvSpPr/>
            <p:nvPr/>
          </p:nvSpPr>
          <p:spPr>
            <a:xfrm flipH="false" flipV="false" rot="0">
              <a:off x="0" y="0"/>
              <a:ext cx="444500" cy="444500"/>
            </a:xfrm>
            <a:custGeom>
              <a:avLst/>
              <a:gdLst/>
              <a:ahLst/>
              <a:cxnLst/>
              <a:rect r="r" b="b" t="t" l="l"/>
              <a:pathLst>
                <a:path h="444500" w="444500">
                  <a:moveTo>
                    <a:pt x="222250" y="0"/>
                  </a:moveTo>
                  <a:cubicBezTo>
                    <a:pt x="99505" y="0"/>
                    <a:pt x="0" y="99505"/>
                    <a:pt x="0" y="222250"/>
                  </a:cubicBezTo>
                  <a:cubicBezTo>
                    <a:pt x="0" y="344995"/>
                    <a:pt x="99505" y="444500"/>
                    <a:pt x="222250" y="444500"/>
                  </a:cubicBezTo>
                  <a:cubicBezTo>
                    <a:pt x="344995" y="444500"/>
                    <a:pt x="444500" y="344995"/>
                    <a:pt x="444500" y="222250"/>
                  </a:cubicBezTo>
                  <a:cubicBezTo>
                    <a:pt x="444500" y="99505"/>
                    <a:pt x="344995" y="0"/>
                    <a:pt x="222250" y="0"/>
                  </a:cubicBezTo>
                  <a:close/>
                </a:path>
              </a:pathLst>
            </a:custGeom>
            <a:solidFill>
              <a:srgbClr val="FF5400">
                <a:alpha val="49804"/>
              </a:srgbClr>
            </a:solidFill>
          </p:spPr>
        </p:sp>
      </p:grpSp>
      <p:grpSp>
        <p:nvGrpSpPr>
          <p:cNvPr name="Group 6" id="6"/>
          <p:cNvGrpSpPr/>
          <p:nvPr/>
        </p:nvGrpSpPr>
        <p:grpSpPr>
          <a:xfrm rot="0">
            <a:off x="17621250" y="2381250"/>
            <a:ext cx="381000" cy="381000"/>
            <a:chOff x="0" y="0"/>
            <a:chExt cx="508000" cy="508000"/>
          </a:xfrm>
        </p:grpSpPr>
        <p:sp>
          <p:nvSpPr>
            <p:cNvPr name="Freeform 7" id="7"/>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60000"/>
              </a:srgbClr>
            </a:solidFill>
          </p:spPr>
        </p:sp>
      </p:grpSp>
      <p:grpSp>
        <p:nvGrpSpPr>
          <p:cNvPr name="Group 8" id="8"/>
          <p:cNvGrpSpPr/>
          <p:nvPr/>
        </p:nvGrpSpPr>
        <p:grpSpPr>
          <a:xfrm rot="0">
            <a:off x="8067895" y="-1123510"/>
            <a:ext cx="2152210" cy="2152210"/>
            <a:chOff x="0" y="0"/>
            <a:chExt cx="317500" cy="317500"/>
          </a:xfrm>
        </p:grpSpPr>
        <p:sp>
          <p:nvSpPr>
            <p:cNvPr name="Freeform 9" id="9"/>
            <p:cNvSpPr/>
            <p:nvPr/>
          </p:nvSpPr>
          <p:spPr>
            <a:xfrm flipH="false" flipV="false" rot="0">
              <a:off x="0" y="0"/>
              <a:ext cx="317500" cy="317500"/>
            </a:xfrm>
            <a:custGeom>
              <a:avLst/>
              <a:gdLst/>
              <a:ahLst/>
              <a:cxnLst/>
              <a:rect r="r" b="b" t="t" l="l"/>
              <a:pathLst>
                <a:path h="317500" w="317500">
                  <a:moveTo>
                    <a:pt x="158750" y="0"/>
                  </a:moveTo>
                  <a:cubicBezTo>
                    <a:pt x="71075" y="0"/>
                    <a:pt x="0" y="71075"/>
                    <a:pt x="0" y="158750"/>
                  </a:cubicBezTo>
                  <a:cubicBezTo>
                    <a:pt x="0" y="246425"/>
                    <a:pt x="71075" y="317500"/>
                    <a:pt x="158750" y="317500"/>
                  </a:cubicBezTo>
                  <a:cubicBezTo>
                    <a:pt x="246425" y="317500"/>
                    <a:pt x="317500" y="246425"/>
                    <a:pt x="317500" y="158750"/>
                  </a:cubicBezTo>
                  <a:cubicBezTo>
                    <a:pt x="317500" y="71075"/>
                    <a:pt x="246425" y="0"/>
                    <a:pt x="158750" y="0"/>
                  </a:cubicBezTo>
                  <a:close/>
                </a:path>
              </a:pathLst>
            </a:custGeom>
            <a:solidFill>
              <a:srgbClr val="FF5400">
                <a:alpha val="49804"/>
              </a:srgbClr>
            </a:solidFill>
          </p:spPr>
        </p:sp>
      </p:grpSp>
      <p:grpSp>
        <p:nvGrpSpPr>
          <p:cNvPr name="Group 10" id="10"/>
          <p:cNvGrpSpPr/>
          <p:nvPr/>
        </p:nvGrpSpPr>
        <p:grpSpPr>
          <a:xfrm rot="0">
            <a:off x="9982696" y="9906000"/>
            <a:ext cx="762000" cy="762000"/>
            <a:chOff x="0" y="0"/>
            <a:chExt cx="1016000" cy="1016000"/>
          </a:xfrm>
        </p:grpSpPr>
        <p:sp>
          <p:nvSpPr>
            <p:cNvPr name="Freeform 11" id="11"/>
            <p:cNvSpPr/>
            <p:nvPr/>
          </p:nvSpPr>
          <p:spPr>
            <a:xfrm flipH="false" flipV="false" rot="0">
              <a:off x="0" y="0"/>
              <a:ext cx="1016000" cy="1016000"/>
            </a:xfrm>
            <a:custGeom>
              <a:avLst/>
              <a:gdLst/>
              <a:ahLst/>
              <a:cxnLst/>
              <a:rect r="r" b="b" t="t" l="l"/>
              <a:pathLst>
                <a:path h="1016000" w="1016000">
                  <a:moveTo>
                    <a:pt x="508000" y="0"/>
                  </a:moveTo>
                  <a:cubicBezTo>
                    <a:pt x="227439" y="0"/>
                    <a:pt x="0" y="227439"/>
                    <a:pt x="0" y="508000"/>
                  </a:cubicBezTo>
                  <a:cubicBezTo>
                    <a:pt x="0" y="788561"/>
                    <a:pt x="227439" y="1016000"/>
                    <a:pt x="508000" y="1016000"/>
                  </a:cubicBezTo>
                  <a:cubicBezTo>
                    <a:pt x="788561" y="1016000"/>
                    <a:pt x="1016000" y="788561"/>
                    <a:pt x="1016000" y="508000"/>
                  </a:cubicBezTo>
                  <a:cubicBezTo>
                    <a:pt x="1016000" y="227439"/>
                    <a:pt x="788561" y="0"/>
                    <a:pt x="508000" y="0"/>
                  </a:cubicBezTo>
                  <a:close/>
                </a:path>
              </a:pathLst>
            </a:custGeom>
            <a:solidFill>
              <a:srgbClr val="FF5400">
                <a:alpha val="29804"/>
              </a:srgbClr>
            </a:solidFill>
          </p:spPr>
        </p:sp>
      </p:grpSp>
      <p:grpSp>
        <p:nvGrpSpPr>
          <p:cNvPr name="Group 12" id="12"/>
          <p:cNvGrpSpPr/>
          <p:nvPr/>
        </p:nvGrpSpPr>
        <p:grpSpPr>
          <a:xfrm rot="2700000">
            <a:off x="17896801" y="3913443"/>
            <a:ext cx="782397" cy="782397"/>
            <a:chOff x="0" y="0"/>
            <a:chExt cx="254000" cy="254000"/>
          </a:xfrm>
        </p:grpSpPr>
        <p:sp>
          <p:nvSpPr>
            <p:cNvPr name="Freeform 13" id="13"/>
            <p:cNvSpPr/>
            <p:nvPr/>
          </p:nvSpPr>
          <p:spPr>
            <a:xfrm flipH="false" flipV="false" rot="0">
              <a:off x="0" y="0"/>
              <a:ext cx="254000" cy="254000"/>
            </a:xfrm>
            <a:custGeom>
              <a:avLst/>
              <a:gdLst/>
              <a:ahLst/>
              <a:cxnLst/>
              <a:rect r="r" b="b" t="t" l="l"/>
              <a:pathLst>
                <a:path h="254000" w="254000">
                  <a:moveTo>
                    <a:pt x="0" y="0"/>
                  </a:moveTo>
                  <a:lnTo>
                    <a:pt x="254000" y="0"/>
                  </a:lnTo>
                  <a:lnTo>
                    <a:pt x="254000" y="254000"/>
                  </a:lnTo>
                  <a:lnTo>
                    <a:pt x="0" y="254000"/>
                  </a:lnTo>
                  <a:close/>
                </a:path>
              </a:pathLst>
            </a:custGeom>
            <a:solidFill>
              <a:srgbClr val="FF5400">
                <a:alpha val="60000"/>
              </a:srgbClr>
            </a:solidFill>
          </p:spPr>
        </p:sp>
      </p:grpSp>
      <p:sp>
        <p:nvSpPr>
          <p:cNvPr name="TextBox 14" id="14"/>
          <p:cNvSpPr txBox="true"/>
          <p:nvPr/>
        </p:nvSpPr>
        <p:spPr>
          <a:xfrm rot="0">
            <a:off x="9982696" y="4228442"/>
            <a:ext cx="5743402" cy="711959"/>
          </a:xfrm>
          <a:prstGeom prst="rect">
            <a:avLst/>
          </a:prstGeom>
        </p:spPr>
        <p:txBody>
          <a:bodyPr anchor="t" rtlCol="false" tIns="0" lIns="0" bIns="0" rIns="0">
            <a:spAutoFit/>
          </a:bodyPr>
          <a:lstStyle/>
          <a:p>
            <a:pPr algn="l" marL="0" indent="0" lvl="0">
              <a:lnSpc>
                <a:spcPts val="4553"/>
              </a:lnSpc>
            </a:pPr>
            <a:r>
              <a:rPr lang="en-US" b="true" sz="4216">
                <a:solidFill>
                  <a:srgbClr val="010101"/>
                </a:solidFill>
                <a:latin typeface="Agrandir Medium"/>
                <a:ea typeface="Agrandir Medium"/>
                <a:cs typeface="Agrandir Medium"/>
                <a:sym typeface="Agrandir Medium"/>
              </a:rPr>
              <a:t>Why</a:t>
            </a:r>
            <a:r>
              <a:rPr lang="en-US" b="true" sz="4216">
                <a:solidFill>
                  <a:srgbClr val="010101"/>
                </a:solidFill>
                <a:latin typeface="Agrandir Medium"/>
                <a:ea typeface="Agrandir Medium"/>
                <a:cs typeface="Agrandir Medium"/>
                <a:sym typeface="Agrandir Medium"/>
              </a:rPr>
              <a:t> Choose Us?</a:t>
            </a:r>
          </a:p>
        </p:txBody>
      </p:sp>
      <p:sp>
        <p:nvSpPr>
          <p:cNvPr name="TextBox 15" id="15"/>
          <p:cNvSpPr txBox="true"/>
          <p:nvPr/>
        </p:nvSpPr>
        <p:spPr>
          <a:xfrm rot="0">
            <a:off x="10363696" y="5029200"/>
            <a:ext cx="7148648" cy="3843680"/>
          </a:xfrm>
          <a:prstGeom prst="rect">
            <a:avLst/>
          </a:prstGeom>
        </p:spPr>
        <p:txBody>
          <a:bodyPr anchor="t" rtlCol="false" tIns="0" lIns="0" bIns="0" rIns="0">
            <a:spAutoFit/>
          </a:bodyPr>
          <a:lstStyle/>
          <a:p>
            <a:pPr algn="l">
              <a:lnSpc>
                <a:spcPts val="3385"/>
              </a:lnSpc>
            </a:pPr>
            <a:r>
              <a:rPr lang="en-US" sz="1979">
                <a:solidFill>
                  <a:srgbClr val="010101"/>
                </a:solidFill>
                <a:latin typeface="Poppins"/>
                <a:ea typeface="Poppins"/>
                <a:cs typeface="Poppins"/>
                <a:sym typeface="Poppins"/>
              </a:rPr>
              <a:t>✅All opportunities in one platform</a:t>
            </a:r>
          </a:p>
          <a:p>
            <a:pPr algn="l">
              <a:lnSpc>
                <a:spcPts val="3385"/>
              </a:lnSpc>
            </a:pPr>
            <a:r>
              <a:rPr lang="en-US" sz="1979">
                <a:solidFill>
                  <a:srgbClr val="010101"/>
                </a:solidFill>
                <a:latin typeface="Poppins"/>
                <a:ea typeface="Poppins"/>
                <a:cs typeface="Poppins"/>
                <a:sym typeface="Poppins"/>
              </a:rPr>
              <a:t>✅ AI-based personalized recommendations</a:t>
            </a:r>
          </a:p>
          <a:p>
            <a:pPr algn="l">
              <a:lnSpc>
                <a:spcPts val="3385"/>
              </a:lnSpc>
            </a:pPr>
            <a:r>
              <a:rPr lang="en-US" sz="1979">
                <a:solidFill>
                  <a:srgbClr val="010101"/>
                </a:solidFill>
                <a:latin typeface="Poppins"/>
                <a:ea typeface="Poppins"/>
                <a:cs typeface="Poppins"/>
                <a:sym typeface="Poppins"/>
              </a:rPr>
              <a:t>✅ Deadline reminders</a:t>
            </a:r>
          </a:p>
          <a:p>
            <a:pPr algn="l">
              <a:lnSpc>
                <a:spcPts val="3385"/>
              </a:lnSpc>
            </a:pPr>
            <a:r>
              <a:rPr lang="en-US" sz="1979">
                <a:solidFill>
                  <a:srgbClr val="010101"/>
                </a:solidFill>
                <a:latin typeface="Poppins"/>
                <a:ea typeface="Poppins"/>
                <a:cs typeface="Poppins"/>
                <a:sym typeface="Poppins"/>
              </a:rPr>
              <a:t>✅ Only active and updated listings</a:t>
            </a:r>
          </a:p>
          <a:p>
            <a:pPr algn="l">
              <a:lnSpc>
                <a:spcPts val="3385"/>
              </a:lnSpc>
            </a:pPr>
            <a:r>
              <a:rPr lang="en-US" sz="1979">
                <a:solidFill>
                  <a:srgbClr val="010101"/>
                </a:solidFill>
                <a:latin typeface="Poppins"/>
                <a:ea typeface="Poppins"/>
                <a:cs typeface="Poppins"/>
                <a:sym typeface="Poppins"/>
              </a:rPr>
              <a:t>✅ Less time wasted searching</a:t>
            </a:r>
          </a:p>
          <a:p>
            <a:pPr algn="l">
              <a:lnSpc>
                <a:spcPts val="3385"/>
              </a:lnSpc>
            </a:pPr>
            <a:r>
              <a:rPr lang="en-US" sz="1979">
                <a:solidFill>
                  <a:srgbClr val="010101"/>
                </a:solidFill>
                <a:latin typeface="Poppins"/>
                <a:ea typeface="Poppins"/>
                <a:cs typeface="Poppins"/>
                <a:sym typeface="Poppins"/>
              </a:rPr>
              <a:t>✅Real user experiences and feedback</a:t>
            </a:r>
          </a:p>
          <a:p>
            <a:pPr algn="l">
              <a:lnSpc>
                <a:spcPts val="3385"/>
              </a:lnSpc>
            </a:pPr>
            <a:r>
              <a:rPr lang="en-US" sz="1979">
                <a:solidFill>
                  <a:srgbClr val="010101"/>
                </a:solidFill>
                <a:latin typeface="Poppins"/>
                <a:ea typeface="Poppins"/>
                <a:cs typeface="Poppins"/>
                <a:sym typeface="Poppins"/>
              </a:rPr>
              <a:t>✅Helpful for students’ career growth</a:t>
            </a:r>
          </a:p>
          <a:p>
            <a:pPr algn="l">
              <a:lnSpc>
                <a:spcPts val="3385"/>
              </a:lnSpc>
            </a:pPr>
          </a:p>
          <a:p>
            <a:pPr algn="l" marL="0" indent="0" lvl="0">
              <a:lnSpc>
                <a:spcPts val="3385"/>
              </a:lnSpc>
            </a:pPr>
          </a:p>
        </p:txBody>
      </p:sp>
      <p:grpSp>
        <p:nvGrpSpPr>
          <p:cNvPr name="Group 16" id="16"/>
          <p:cNvGrpSpPr/>
          <p:nvPr/>
        </p:nvGrpSpPr>
        <p:grpSpPr>
          <a:xfrm rot="0">
            <a:off x="785405" y="3303789"/>
            <a:ext cx="7109961" cy="6345219"/>
            <a:chOff x="0" y="0"/>
            <a:chExt cx="67993537" cy="60680201"/>
          </a:xfrm>
        </p:grpSpPr>
        <p:sp>
          <p:nvSpPr>
            <p:cNvPr name="Freeform 17" id="17"/>
            <p:cNvSpPr/>
            <p:nvPr/>
          </p:nvSpPr>
          <p:spPr>
            <a:xfrm flipH="false" flipV="false" rot="0">
              <a:off x="0" y="0"/>
              <a:ext cx="67993537" cy="60680203"/>
            </a:xfrm>
            <a:custGeom>
              <a:avLst/>
              <a:gdLst/>
              <a:ahLst/>
              <a:cxnLst/>
              <a:rect r="r" b="b" t="t" l="l"/>
              <a:pathLst>
                <a:path h="60680203" w="67993537">
                  <a:moveTo>
                    <a:pt x="18511" y="0"/>
                  </a:moveTo>
                  <a:lnTo>
                    <a:pt x="67975026" y="0"/>
                  </a:lnTo>
                  <a:cubicBezTo>
                    <a:pt x="67985252" y="0"/>
                    <a:pt x="67993537" y="8288"/>
                    <a:pt x="67993537" y="18511"/>
                  </a:cubicBezTo>
                  <a:lnTo>
                    <a:pt x="67993537" y="60661693"/>
                  </a:lnTo>
                  <a:cubicBezTo>
                    <a:pt x="67993537" y="60671918"/>
                    <a:pt x="67985252" y="60680203"/>
                    <a:pt x="67975026" y="60680203"/>
                  </a:cubicBezTo>
                  <a:lnTo>
                    <a:pt x="18511" y="60680203"/>
                  </a:lnTo>
                  <a:cubicBezTo>
                    <a:pt x="8288" y="60680203"/>
                    <a:pt x="0" y="60671918"/>
                    <a:pt x="0" y="60661693"/>
                  </a:cubicBezTo>
                  <a:lnTo>
                    <a:pt x="0" y="18511"/>
                  </a:lnTo>
                  <a:cubicBezTo>
                    <a:pt x="0" y="8288"/>
                    <a:pt x="8288" y="0"/>
                    <a:pt x="18511" y="0"/>
                  </a:cubicBezTo>
                  <a:close/>
                </a:path>
              </a:pathLst>
            </a:custGeom>
            <a:blipFill>
              <a:blip r:embed="rId2"/>
              <a:stretch>
                <a:fillRect l="0" t="-6026" r="0" b="-6026"/>
              </a:stretch>
            </a:blipFill>
          </p:spPr>
        </p:sp>
      </p:grpSp>
      <p:sp>
        <p:nvSpPr>
          <p:cNvPr name="Freeform 18" id="18"/>
          <p:cNvSpPr/>
          <p:nvPr/>
        </p:nvSpPr>
        <p:spPr>
          <a:xfrm flipH="false" flipV="false" rot="36000">
            <a:off x="-4994" y="-6002"/>
            <a:ext cx="1161242" cy="971861"/>
          </a:xfrm>
          <a:custGeom>
            <a:avLst/>
            <a:gdLst/>
            <a:ahLst/>
            <a:cxnLst/>
            <a:rect r="r" b="b" t="t" l="l"/>
            <a:pathLst>
              <a:path h="971861" w="1161242">
                <a:moveTo>
                  <a:pt x="0" y="12056"/>
                </a:moveTo>
                <a:lnTo>
                  <a:pt x="1151191" y="0"/>
                </a:lnTo>
                <a:lnTo>
                  <a:pt x="1161242" y="959806"/>
                </a:lnTo>
                <a:lnTo>
                  <a:pt x="10051" y="971862"/>
                </a:lnTo>
                <a:lnTo>
                  <a:pt x="0" y="12056"/>
                </a:lnTo>
                <a:close/>
              </a:path>
            </a:pathLst>
          </a:custGeom>
          <a:blipFill>
            <a:blip r:embed="rId3"/>
            <a:stretch>
              <a:fillRect l="-202" t="-3096" r="-3241" b="44"/>
            </a:stretch>
          </a:blipFill>
        </p:spPr>
      </p:sp>
      <p:sp>
        <p:nvSpPr>
          <p:cNvPr name="TextBox 19" id="19"/>
          <p:cNvSpPr txBox="true"/>
          <p:nvPr/>
        </p:nvSpPr>
        <p:spPr>
          <a:xfrm rot="0">
            <a:off x="1193818" y="971550"/>
            <a:ext cx="15900365" cy="3434973"/>
          </a:xfrm>
          <a:prstGeom prst="rect">
            <a:avLst/>
          </a:prstGeom>
        </p:spPr>
        <p:txBody>
          <a:bodyPr anchor="t" rtlCol="false" tIns="0" lIns="0" bIns="0" rIns="0">
            <a:spAutoFit/>
          </a:bodyPr>
          <a:lstStyle/>
          <a:p>
            <a:pPr algn="ctr">
              <a:lnSpc>
                <a:spcPts val="4218"/>
              </a:lnSpc>
            </a:pPr>
            <a:r>
              <a:rPr lang="en-US" sz="3013">
                <a:solidFill>
                  <a:srgbClr val="010101"/>
                </a:solidFill>
                <a:latin typeface="Playfair Display"/>
                <a:ea typeface="Playfair Display"/>
                <a:cs typeface="Playfair Display"/>
                <a:sym typeface="Playfair Display"/>
              </a:rPr>
              <a:t>Our project is a c</a:t>
            </a:r>
            <a:r>
              <a:rPr lang="en-US" sz="3013">
                <a:solidFill>
                  <a:srgbClr val="010101"/>
                </a:solidFill>
                <a:latin typeface="Playfair Display"/>
                <a:ea typeface="Playfair Display"/>
                <a:cs typeface="Playfair Display"/>
                <a:sym typeface="Playfair Display"/>
              </a:rPr>
              <a:t>entralized platform that gathers academic and career opportunities in one place, helping students quickly find relevant internships, courses, research programs, and projects through personalized profiles and AI-based recommendations while avoiding missed deadlines.</a:t>
            </a:r>
          </a:p>
          <a:p>
            <a:pPr algn="ctr">
              <a:lnSpc>
                <a:spcPts val="1321"/>
              </a:lnSpc>
            </a:pPr>
          </a:p>
          <a:p>
            <a:pPr algn="ctr">
              <a:lnSpc>
                <a:spcPts val="1321"/>
              </a:lnSpc>
            </a:pPr>
          </a:p>
          <a:p>
            <a:pPr algn="ctr">
              <a:lnSpc>
                <a:spcPts val="1321"/>
              </a:lnSpc>
            </a:pPr>
          </a:p>
          <a:p>
            <a:pPr algn="ctr">
              <a:lnSpc>
                <a:spcPts val="1321"/>
              </a:lnSpc>
            </a:pPr>
          </a:p>
          <a:p>
            <a:pPr algn="ctr">
              <a:lnSpc>
                <a:spcPts val="1321"/>
              </a:lnSpc>
            </a:pPr>
          </a:p>
          <a:p>
            <a:pPr algn="ctr">
              <a:lnSpc>
                <a:spcPts val="1321"/>
              </a:lnSpc>
            </a:pPr>
          </a:p>
          <a:p>
            <a:pPr algn="ctr">
              <a:lnSpc>
                <a:spcPts val="1321"/>
              </a:lnSpc>
            </a:pPr>
          </a:p>
          <a:p>
            <a:pPr algn="ctr">
              <a:lnSpc>
                <a:spcPts val="1321"/>
              </a:lnSpc>
            </a:pPr>
          </a:p>
        </p:txBody>
      </p:sp>
    </p:spTree>
  </p:cSld>
  <p:clrMapOvr>
    <a:masterClrMapping/>
  </p:clrMapOvr>
  <p:transition spd="slow">
    <p:cover di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12710" y="8074192"/>
            <a:ext cx="6259569" cy="5700169"/>
          </a:xfrm>
          <a:custGeom>
            <a:avLst/>
            <a:gdLst/>
            <a:ahLst/>
            <a:cxnLst/>
            <a:rect r="r" b="b" t="t" l="l"/>
            <a:pathLst>
              <a:path h="5700169" w="6259569">
                <a:moveTo>
                  <a:pt x="0" y="0"/>
                </a:moveTo>
                <a:lnTo>
                  <a:pt x="6259569" y="0"/>
                </a:lnTo>
                <a:lnTo>
                  <a:pt x="6259569" y="5700168"/>
                </a:lnTo>
                <a:lnTo>
                  <a:pt x="0" y="5700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80727" y="-806938"/>
            <a:ext cx="5363044" cy="5550043"/>
          </a:xfrm>
          <a:custGeom>
            <a:avLst/>
            <a:gdLst/>
            <a:ahLst/>
            <a:cxnLst/>
            <a:rect r="r" b="b" t="t" l="l"/>
            <a:pathLst>
              <a:path h="5550043" w="5363044">
                <a:moveTo>
                  <a:pt x="0" y="0"/>
                </a:moveTo>
                <a:lnTo>
                  <a:pt x="5363044" y="0"/>
                </a:lnTo>
                <a:lnTo>
                  <a:pt x="5363044" y="5550042"/>
                </a:lnTo>
                <a:lnTo>
                  <a:pt x="0" y="55500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198872" y="0"/>
            <a:ext cx="3213116" cy="2724723"/>
          </a:xfrm>
          <a:custGeom>
            <a:avLst/>
            <a:gdLst/>
            <a:ahLst/>
            <a:cxnLst/>
            <a:rect r="r" b="b" t="t" l="l"/>
            <a:pathLst>
              <a:path h="2724723" w="3213116">
                <a:moveTo>
                  <a:pt x="0" y="0"/>
                </a:moveTo>
                <a:lnTo>
                  <a:pt x="3213117" y="0"/>
                </a:lnTo>
                <a:lnTo>
                  <a:pt x="3213117" y="2724723"/>
                </a:lnTo>
                <a:lnTo>
                  <a:pt x="0" y="2724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61151" y="225615"/>
            <a:ext cx="12276746" cy="887188"/>
          </a:xfrm>
          <a:prstGeom prst="rect">
            <a:avLst/>
          </a:prstGeom>
        </p:spPr>
        <p:txBody>
          <a:bodyPr anchor="t" rtlCol="false" tIns="0" lIns="0" bIns="0" rIns="0">
            <a:spAutoFit/>
          </a:bodyPr>
          <a:lstStyle/>
          <a:p>
            <a:pPr algn="ctr" marL="0" indent="0" lvl="0">
              <a:lnSpc>
                <a:spcPts val="7274"/>
              </a:lnSpc>
            </a:pPr>
            <a:r>
              <a:rPr lang="en-US" b="true" sz="5196">
                <a:solidFill>
                  <a:srgbClr val="16394A"/>
                </a:solidFill>
                <a:latin typeface="Playpen Sans Bold"/>
                <a:ea typeface="Playpen Sans Bold"/>
                <a:cs typeface="Playpen Sans Bold"/>
                <a:sym typeface="Playpen Sans Bold"/>
              </a:rPr>
              <a:t>Functional Requirements</a:t>
            </a:r>
          </a:p>
        </p:txBody>
      </p:sp>
      <p:sp>
        <p:nvSpPr>
          <p:cNvPr name="TextBox 6" id="6"/>
          <p:cNvSpPr txBox="true"/>
          <p:nvPr/>
        </p:nvSpPr>
        <p:spPr>
          <a:xfrm rot="0">
            <a:off x="2382317" y="119887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U</a:t>
            </a:r>
            <a:r>
              <a:rPr lang="en-US" b="true" sz="3497" spc="-52">
                <a:solidFill>
                  <a:srgbClr val="16394A"/>
                </a:solidFill>
                <a:latin typeface="Playpen Sans Semi-Bold"/>
                <a:ea typeface="Playpen Sans Semi-Bold"/>
                <a:cs typeface="Playpen Sans Semi-Bold"/>
                <a:sym typeface="Playpen Sans Semi-Bold"/>
              </a:rPr>
              <a:t>ser Registration &amp; Login</a:t>
            </a:r>
          </a:p>
        </p:txBody>
      </p:sp>
      <p:sp>
        <p:nvSpPr>
          <p:cNvPr name="TextBox 7" id="7"/>
          <p:cNvSpPr txBox="true"/>
          <p:nvPr/>
        </p:nvSpPr>
        <p:spPr>
          <a:xfrm rot="0">
            <a:off x="2382317" y="1891090"/>
            <a:ext cx="12517558"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a:t>
            </a:r>
            <a:r>
              <a:rPr lang="en-US" sz="2798" spc="-41">
                <a:solidFill>
                  <a:srgbClr val="16394A"/>
                </a:solidFill>
                <a:latin typeface="Playpen Sans"/>
                <a:ea typeface="Playpen Sans"/>
                <a:cs typeface="Playpen Sans"/>
                <a:sym typeface="Playpen Sans"/>
              </a:rPr>
              <a:t>ers can create an account and log in with email and password.</a:t>
            </a:r>
          </a:p>
        </p:txBody>
      </p:sp>
      <p:sp>
        <p:nvSpPr>
          <p:cNvPr name="TextBox 8" id="8"/>
          <p:cNvSpPr txBox="true"/>
          <p:nvPr/>
        </p:nvSpPr>
        <p:spPr>
          <a:xfrm rot="0">
            <a:off x="2205222" y="5807035"/>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S</a:t>
            </a:r>
            <a:r>
              <a:rPr lang="en-US" b="true" sz="3497" spc="-52">
                <a:solidFill>
                  <a:srgbClr val="16394A"/>
                </a:solidFill>
                <a:latin typeface="Playpen Sans Semi-Bold"/>
                <a:ea typeface="Playpen Sans Semi-Bold"/>
                <a:cs typeface="Playpen Sans Semi-Bold"/>
                <a:sym typeface="Playpen Sans Semi-Bold"/>
              </a:rPr>
              <a:t>earch &amp; Filtering</a:t>
            </a:r>
          </a:p>
        </p:txBody>
      </p:sp>
      <p:sp>
        <p:nvSpPr>
          <p:cNvPr name="TextBox 9" id="9"/>
          <p:cNvSpPr txBox="true"/>
          <p:nvPr/>
        </p:nvSpPr>
        <p:spPr>
          <a:xfrm rot="0">
            <a:off x="2172594" y="7668630"/>
            <a:ext cx="10467413"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Users can save opportunities to view or apply later.</a:t>
            </a:r>
          </a:p>
        </p:txBody>
      </p:sp>
      <p:sp>
        <p:nvSpPr>
          <p:cNvPr name="TextBox 10" id="10"/>
          <p:cNvSpPr txBox="true"/>
          <p:nvPr/>
        </p:nvSpPr>
        <p:spPr>
          <a:xfrm rot="0">
            <a:off x="2380843" y="2458195"/>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P</a:t>
            </a:r>
            <a:r>
              <a:rPr lang="en-US" b="true" sz="3497" spc="-52">
                <a:solidFill>
                  <a:srgbClr val="16394A"/>
                </a:solidFill>
                <a:latin typeface="Playpen Sans Semi-Bold"/>
                <a:ea typeface="Playpen Sans Semi-Bold"/>
                <a:cs typeface="Playpen Sans Semi-Bold"/>
                <a:sym typeface="Playpen Sans Semi-Bold"/>
              </a:rPr>
              <a:t>ersonalized Opportunity Feed</a:t>
            </a:r>
          </a:p>
        </p:txBody>
      </p:sp>
      <p:sp>
        <p:nvSpPr>
          <p:cNvPr name="TextBox 11" id="11"/>
          <p:cNvSpPr txBox="true"/>
          <p:nvPr/>
        </p:nvSpPr>
        <p:spPr>
          <a:xfrm rot="0">
            <a:off x="2205222" y="4060412"/>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AI-Based Recommendations</a:t>
            </a:r>
          </a:p>
        </p:txBody>
      </p:sp>
      <p:sp>
        <p:nvSpPr>
          <p:cNvPr name="TextBox 12" id="12"/>
          <p:cNvSpPr txBox="true"/>
          <p:nvPr/>
        </p:nvSpPr>
        <p:spPr>
          <a:xfrm rot="0">
            <a:off x="2205222" y="7128818"/>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Favorites List</a:t>
            </a:r>
          </a:p>
        </p:txBody>
      </p:sp>
      <p:sp>
        <p:nvSpPr>
          <p:cNvPr name="TextBox 13" id="13"/>
          <p:cNvSpPr txBox="true"/>
          <p:nvPr/>
        </p:nvSpPr>
        <p:spPr>
          <a:xfrm rot="0">
            <a:off x="2205222" y="3150407"/>
            <a:ext cx="13877556" cy="9766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shows internships, jobs, scholarships, courses, summer schools, and research programs based on the user profile.</a:t>
            </a:r>
          </a:p>
        </p:txBody>
      </p:sp>
      <p:sp>
        <p:nvSpPr>
          <p:cNvPr name="TextBox 14" id="14"/>
          <p:cNvSpPr txBox="true"/>
          <p:nvPr/>
        </p:nvSpPr>
        <p:spPr>
          <a:xfrm rot="0">
            <a:off x="2172594" y="4744630"/>
            <a:ext cx="14727886" cy="9766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a:t>
            </a:r>
            <a:r>
              <a:rPr lang="en-US" sz="2798" spc="-41">
                <a:solidFill>
                  <a:srgbClr val="16394A"/>
                </a:solidFill>
                <a:latin typeface="Playpen Sans"/>
                <a:ea typeface="Playpen Sans"/>
                <a:cs typeface="Playpen Sans"/>
                <a:sym typeface="Playpen Sans"/>
              </a:rPr>
              <a:t>stem recommends the most relevant opportunities using user interests, profile data, and past interactions.</a:t>
            </a:r>
          </a:p>
        </p:txBody>
      </p:sp>
      <p:sp>
        <p:nvSpPr>
          <p:cNvPr name="TextBox 15" id="15"/>
          <p:cNvSpPr txBox="true"/>
          <p:nvPr/>
        </p:nvSpPr>
        <p:spPr>
          <a:xfrm rot="0">
            <a:off x="2172594" y="6218813"/>
            <a:ext cx="15239394" cy="9766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Users can search and filter opportunities by location, date, event type, and required skills.</a:t>
            </a:r>
          </a:p>
        </p:txBody>
      </p:sp>
    </p:spTree>
  </p:cSld>
  <p:clrMapOvr>
    <a:masterClrMapping/>
  </p:clrMapOvr>
  <p:transition spd="slow">
    <p:cover di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12710" y="8074192"/>
            <a:ext cx="6259569" cy="5700169"/>
          </a:xfrm>
          <a:custGeom>
            <a:avLst/>
            <a:gdLst/>
            <a:ahLst/>
            <a:cxnLst/>
            <a:rect r="r" b="b" t="t" l="l"/>
            <a:pathLst>
              <a:path h="5700169" w="6259569">
                <a:moveTo>
                  <a:pt x="0" y="0"/>
                </a:moveTo>
                <a:lnTo>
                  <a:pt x="6259569" y="0"/>
                </a:lnTo>
                <a:lnTo>
                  <a:pt x="6259569" y="5700168"/>
                </a:lnTo>
                <a:lnTo>
                  <a:pt x="0" y="5700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80727" y="-806938"/>
            <a:ext cx="5363044" cy="5550043"/>
          </a:xfrm>
          <a:custGeom>
            <a:avLst/>
            <a:gdLst/>
            <a:ahLst/>
            <a:cxnLst/>
            <a:rect r="r" b="b" t="t" l="l"/>
            <a:pathLst>
              <a:path h="5550043" w="5363044">
                <a:moveTo>
                  <a:pt x="0" y="0"/>
                </a:moveTo>
                <a:lnTo>
                  <a:pt x="5363044" y="0"/>
                </a:lnTo>
                <a:lnTo>
                  <a:pt x="5363044" y="5550042"/>
                </a:lnTo>
                <a:lnTo>
                  <a:pt x="0" y="55500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198872" y="0"/>
            <a:ext cx="3213116" cy="2724723"/>
          </a:xfrm>
          <a:custGeom>
            <a:avLst/>
            <a:gdLst/>
            <a:ahLst/>
            <a:cxnLst/>
            <a:rect r="r" b="b" t="t" l="l"/>
            <a:pathLst>
              <a:path h="2724723" w="3213116">
                <a:moveTo>
                  <a:pt x="0" y="0"/>
                </a:moveTo>
                <a:lnTo>
                  <a:pt x="3213117" y="0"/>
                </a:lnTo>
                <a:lnTo>
                  <a:pt x="3213117" y="2724723"/>
                </a:lnTo>
                <a:lnTo>
                  <a:pt x="0" y="2724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61151" y="225615"/>
            <a:ext cx="12276746" cy="887188"/>
          </a:xfrm>
          <a:prstGeom prst="rect">
            <a:avLst/>
          </a:prstGeom>
        </p:spPr>
        <p:txBody>
          <a:bodyPr anchor="t" rtlCol="false" tIns="0" lIns="0" bIns="0" rIns="0">
            <a:spAutoFit/>
          </a:bodyPr>
          <a:lstStyle/>
          <a:p>
            <a:pPr algn="ctr" marL="0" indent="0" lvl="0">
              <a:lnSpc>
                <a:spcPts val="7274"/>
              </a:lnSpc>
            </a:pPr>
            <a:r>
              <a:rPr lang="en-US" b="true" sz="5196">
                <a:solidFill>
                  <a:srgbClr val="16394A"/>
                </a:solidFill>
                <a:latin typeface="Playpen Sans Bold"/>
                <a:ea typeface="Playpen Sans Bold"/>
                <a:cs typeface="Playpen Sans Bold"/>
                <a:sym typeface="Playpen Sans Bold"/>
              </a:rPr>
              <a:t>Functional Requirements</a:t>
            </a:r>
          </a:p>
        </p:txBody>
      </p:sp>
      <p:sp>
        <p:nvSpPr>
          <p:cNvPr name="TextBox 6" id="6"/>
          <p:cNvSpPr txBox="true"/>
          <p:nvPr/>
        </p:nvSpPr>
        <p:spPr>
          <a:xfrm rot="0">
            <a:off x="2382317" y="119887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Email &amp; Pu</a:t>
            </a:r>
            <a:r>
              <a:rPr lang="en-US" b="true" sz="3497" spc="-52">
                <a:solidFill>
                  <a:srgbClr val="16394A"/>
                </a:solidFill>
                <a:latin typeface="Playpen Sans Semi-Bold"/>
                <a:ea typeface="Playpen Sans Semi-Bold"/>
                <a:cs typeface="Playpen Sans Semi-Bold"/>
                <a:sym typeface="Playpen Sans Semi-Bold"/>
              </a:rPr>
              <a:t>sh Notifications</a:t>
            </a:r>
          </a:p>
        </p:txBody>
      </p:sp>
      <p:sp>
        <p:nvSpPr>
          <p:cNvPr name="TextBox 7" id="7"/>
          <p:cNvSpPr txBox="true"/>
          <p:nvPr/>
        </p:nvSpPr>
        <p:spPr>
          <a:xfrm rot="0">
            <a:off x="2382317" y="1891090"/>
            <a:ext cx="12517558"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a:t>
            </a:r>
            <a:r>
              <a:rPr lang="en-US" sz="2798" spc="-41">
                <a:solidFill>
                  <a:srgbClr val="16394A"/>
                </a:solidFill>
                <a:latin typeface="Playpen Sans"/>
                <a:ea typeface="Playpen Sans"/>
                <a:cs typeface="Playpen Sans"/>
                <a:sym typeface="Playpen Sans"/>
              </a:rPr>
              <a:t>ers receive notifications when new matching opportunities are posted.</a:t>
            </a:r>
          </a:p>
        </p:txBody>
      </p:sp>
      <p:sp>
        <p:nvSpPr>
          <p:cNvPr name="TextBox 8" id="8"/>
          <p:cNvSpPr txBox="true"/>
          <p:nvPr/>
        </p:nvSpPr>
        <p:spPr>
          <a:xfrm rot="0">
            <a:off x="2364939" y="5076825"/>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Experience Sharing</a:t>
            </a:r>
          </a:p>
        </p:txBody>
      </p:sp>
      <p:sp>
        <p:nvSpPr>
          <p:cNvPr name="TextBox 9" id="9"/>
          <p:cNvSpPr txBox="true"/>
          <p:nvPr/>
        </p:nvSpPr>
        <p:spPr>
          <a:xfrm rot="0">
            <a:off x="2205222" y="6953396"/>
            <a:ext cx="14541504" cy="9766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Users can read reviews from people who previously joined similar programs or opportunities.</a:t>
            </a:r>
          </a:p>
        </p:txBody>
      </p:sp>
      <p:sp>
        <p:nvSpPr>
          <p:cNvPr name="TextBox 10" id="10"/>
          <p:cNvSpPr txBox="true"/>
          <p:nvPr/>
        </p:nvSpPr>
        <p:spPr>
          <a:xfrm rot="0">
            <a:off x="2382317" y="2392904"/>
            <a:ext cx="16199145"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Deadline Reminder</a:t>
            </a:r>
          </a:p>
        </p:txBody>
      </p:sp>
      <p:sp>
        <p:nvSpPr>
          <p:cNvPr name="TextBox 11" id="11"/>
          <p:cNvSpPr txBox="true"/>
          <p:nvPr/>
        </p:nvSpPr>
        <p:spPr>
          <a:xfrm rot="0">
            <a:off x="2382317" y="3652368"/>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Schedule Conflict Prevention</a:t>
            </a:r>
          </a:p>
        </p:txBody>
      </p:sp>
      <p:sp>
        <p:nvSpPr>
          <p:cNvPr name="TextBox 12" id="12"/>
          <p:cNvSpPr txBox="true"/>
          <p:nvPr/>
        </p:nvSpPr>
        <p:spPr>
          <a:xfrm rot="0">
            <a:off x="2364939" y="626946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Review Access</a:t>
            </a:r>
          </a:p>
        </p:txBody>
      </p:sp>
      <p:sp>
        <p:nvSpPr>
          <p:cNvPr name="TextBox 13" id="13"/>
          <p:cNvSpPr txBox="true"/>
          <p:nvPr/>
        </p:nvSpPr>
        <p:spPr>
          <a:xfrm rot="0">
            <a:off x="2364939" y="3007532"/>
            <a:ext cx="1387755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reminds users 24 hours before the deadline of saved opportunities.</a:t>
            </a:r>
          </a:p>
        </p:txBody>
      </p:sp>
      <p:sp>
        <p:nvSpPr>
          <p:cNvPr name="TextBox 14" id="14"/>
          <p:cNvSpPr txBox="true"/>
          <p:nvPr/>
        </p:nvSpPr>
        <p:spPr>
          <a:xfrm rot="0">
            <a:off x="2364939" y="4412046"/>
            <a:ext cx="1472788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a:t>
            </a:r>
            <a:r>
              <a:rPr lang="en-US" sz="2798" spc="-41">
                <a:solidFill>
                  <a:srgbClr val="16394A"/>
                </a:solidFill>
                <a:latin typeface="Playpen Sans"/>
                <a:ea typeface="Playpen Sans"/>
                <a:cs typeface="Playpen Sans"/>
                <a:sym typeface="Playpen Sans"/>
              </a:rPr>
              <a:t>sers cannot register for two trainings at the same date and time.</a:t>
            </a:r>
          </a:p>
        </p:txBody>
      </p:sp>
      <p:sp>
        <p:nvSpPr>
          <p:cNvPr name="TextBox 15" id="15"/>
          <p:cNvSpPr txBox="true"/>
          <p:nvPr/>
        </p:nvSpPr>
        <p:spPr>
          <a:xfrm rot="0">
            <a:off x="2205222" y="5702362"/>
            <a:ext cx="15239394"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Users can share feedback about programs they attended.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12710" y="8074192"/>
            <a:ext cx="6259569" cy="5700169"/>
          </a:xfrm>
          <a:custGeom>
            <a:avLst/>
            <a:gdLst/>
            <a:ahLst/>
            <a:cxnLst/>
            <a:rect r="r" b="b" t="t" l="l"/>
            <a:pathLst>
              <a:path h="5700169" w="6259569">
                <a:moveTo>
                  <a:pt x="0" y="0"/>
                </a:moveTo>
                <a:lnTo>
                  <a:pt x="6259569" y="0"/>
                </a:lnTo>
                <a:lnTo>
                  <a:pt x="6259569" y="5700168"/>
                </a:lnTo>
                <a:lnTo>
                  <a:pt x="0" y="5700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80727" y="-806938"/>
            <a:ext cx="5363044" cy="5550043"/>
          </a:xfrm>
          <a:custGeom>
            <a:avLst/>
            <a:gdLst/>
            <a:ahLst/>
            <a:cxnLst/>
            <a:rect r="r" b="b" t="t" l="l"/>
            <a:pathLst>
              <a:path h="5550043" w="5363044">
                <a:moveTo>
                  <a:pt x="0" y="0"/>
                </a:moveTo>
                <a:lnTo>
                  <a:pt x="5363044" y="0"/>
                </a:lnTo>
                <a:lnTo>
                  <a:pt x="5363044" y="5550042"/>
                </a:lnTo>
                <a:lnTo>
                  <a:pt x="0" y="55500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198872" y="0"/>
            <a:ext cx="3213116" cy="2724723"/>
          </a:xfrm>
          <a:custGeom>
            <a:avLst/>
            <a:gdLst/>
            <a:ahLst/>
            <a:cxnLst/>
            <a:rect r="r" b="b" t="t" l="l"/>
            <a:pathLst>
              <a:path h="2724723" w="3213116">
                <a:moveTo>
                  <a:pt x="0" y="0"/>
                </a:moveTo>
                <a:lnTo>
                  <a:pt x="3213117" y="0"/>
                </a:lnTo>
                <a:lnTo>
                  <a:pt x="3213117" y="2724723"/>
                </a:lnTo>
                <a:lnTo>
                  <a:pt x="0" y="2724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61151" y="225615"/>
            <a:ext cx="12276746" cy="887188"/>
          </a:xfrm>
          <a:prstGeom prst="rect">
            <a:avLst/>
          </a:prstGeom>
        </p:spPr>
        <p:txBody>
          <a:bodyPr anchor="t" rtlCol="false" tIns="0" lIns="0" bIns="0" rIns="0">
            <a:spAutoFit/>
          </a:bodyPr>
          <a:lstStyle/>
          <a:p>
            <a:pPr algn="ctr" marL="0" indent="0" lvl="0">
              <a:lnSpc>
                <a:spcPts val="7274"/>
              </a:lnSpc>
            </a:pPr>
            <a:r>
              <a:rPr lang="en-US" b="true" sz="5196">
                <a:solidFill>
                  <a:srgbClr val="16394A"/>
                </a:solidFill>
                <a:latin typeface="Playpen Sans Bold"/>
                <a:ea typeface="Playpen Sans Bold"/>
                <a:cs typeface="Playpen Sans Bold"/>
                <a:sym typeface="Playpen Sans Bold"/>
              </a:rPr>
              <a:t>Non-Functional Requirements</a:t>
            </a:r>
          </a:p>
        </p:txBody>
      </p:sp>
      <p:sp>
        <p:nvSpPr>
          <p:cNvPr name="TextBox 6" id="6"/>
          <p:cNvSpPr txBox="true"/>
          <p:nvPr/>
        </p:nvSpPr>
        <p:spPr>
          <a:xfrm rot="0">
            <a:off x="2382317" y="119887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Fast Loading Time</a:t>
            </a:r>
          </a:p>
        </p:txBody>
      </p:sp>
      <p:sp>
        <p:nvSpPr>
          <p:cNvPr name="TextBox 7" id="7"/>
          <p:cNvSpPr txBox="true"/>
          <p:nvPr/>
        </p:nvSpPr>
        <p:spPr>
          <a:xfrm rot="0">
            <a:off x="2382317" y="1891090"/>
            <a:ext cx="12517558"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Oppo</a:t>
            </a:r>
            <a:r>
              <a:rPr lang="en-US" sz="2798" spc="-41">
                <a:solidFill>
                  <a:srgbClr val="16394A"/>
                </a:solidFill>
                <a:latin typeface="Playpen Sans"/>
                <a:ea typeface="Playpen Sans"/>
                <a:cs typeface="Playpen Sans"/>
                <a:sym typeface="Playpen Sans"/>
              </a:rPr>
              <a:t>rtunity listings should load within 3 seconds.</a:t>
            </a:r>
          </a:p>
        </p:txBody>
      </p:sp>
      <p:sp>
        <p:nvSpPr>
          <p:cNvPr name="TextBox 8" id="8"/>
          <p:cNvSpPr txBox="true"/>
          <p:nvPr/>
        </p:nvSpPr>
        <p:spPr>
          <a:xfrm rot="0">
            <a:off x="2364939" y="5076825"/>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Privacy Compliance</a:t>
            </a:r>
          </a:p>
        </p:txBody>
      </p:sp>
      <p:sp>
        <p:nvSpPr>
          <p:cNvPr name="TextBox 9" id="9"/>
          <p:cNvSpPr txBox="true"/>
          <p:nvPr/>
        </p:nvSpPr>
        <p:spPr>
          <a:xfrm rot="0">
            <a:off x="2205222" y="6953396"/>
            <a:ext cx="14541504"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User data and login credentials must be encrypted.</a:t>
            </a:r>
          </a:p>
        </p:txBody>
      </p:sp>
      <p:sp>
        <p:nvSpPr>
          <p:cNvPr name="TextBox 10" id="10"/>
          <p:cNvSpPr txBox="true"/>
          <p:nvPr/>
        </p:nvSpPr>
        <p:spPr>
          <a:xfrm rot="0">
            <a:off x="2382317" y="2392904"/>
            <a:ext cx="16199145"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Mobile Compatibility</a:t>
            </a:r>
          </a:p>
        </p:txBody>
      </p:sp>
      <p:sp>
        <p:nvSpPr>
          <p:cNvPr name="TextBox 11" id="11"/>
          <p:cNvSpPr txBox="true"/>
          <p:nvPr/>
        </p:nvSpPr>
        <p:spPr>
          <a:xfrm rot="0">
            <a:off x="2382317" y="3652368"/>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Multi-Language Support</a:t>
            </a:r>
          </a:p>
        </p:txBody>
      </p:sp>
      <p:sp>
        <p:nvSpPr>
          <p:cNvPr name="TextBox 12" id="12"/>
          <p:cNvSpPr txBox="true"/>
          <p:nvPr/>
        </p:nvSpPr>
        <p:spPr>
          <a:xfrm rot="0">
            <a:off x="2364939" y="626946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Data Security</a:t>
            </a:r>
          </a:p>
        </p:txBody>
      </p:sp>
      <p:sp>
        <p:nvSpPr>
          <p:cNvPr name="TextBox 13" id="13"/>
          <p:cNvSpPr txBox="true"/>
          <p:nvPr/>
        </p:nvSpPr>
        <p:spPr>
          <a:xfrm rot="0">
            <a:off x="2364939" y="3007532"/>
            <a:ext cx="1387755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should work smoothly on Android 15+ and iOS 17.0+ devices.</a:t>
            </a:r>
          </a:p>
        </p:txBody>
      </p:sp>
      <p:sp>
        <p:nvSpPr>
          <p:cNvPr name="TextBox 14" id="14"/>
          <p:cNvSpPr txBox="true"/>
          <p:nvPr/>
        </p:nvSpPr>
        <p:spPr>
          <a:xfrm rot="0">
            <a:off x="2364939" y="4412046"/>
            <a:ext cx="1472788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platform supports Turkish, English, German, and Spanish.</a:t>
            </a:r>
          </a:p>
        </p:txBody>
      </p:sp>
      <p:sp>
        <p:nvSpPr>
          <p:cNvPr name="TextBox 15" id="15"/>
          <p:cNvSpPr txBox="true"/>
          <p:nvPr/>
        </p:nvSpPr>
        <p:spPr>
          <a:xfrm rot="0">
            <a:off x="2205222" y="5702362"/>
            <a:ext cx="15239394"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must comply with KVKK and GDPR.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12710" y="8074192"/>
            <a:ext cx="6259569" cy="5700169"/>
          </a:xfrm>
          <a:custGeom>
            <a:avLst/>
            <a:gdLst/>
            <a:ahLst/>
            <a:cxnLst/>
            <a:rect r="r" b="b" t="t" l="l"/>
            <a:pathLst>
              <a:path h="5700169" w="6259569">
                <a:moveTo>
                  <a:pt x="0" y="0"/>
                </a:moveTo>
                <a:lnTo>
                  <a:pt x="6259569" y="0"/>
                </a:lnTo>
                <a:lnTo>
                  <a:pt x="6259569" y="5700168"/>
                </a:lnTo>
                <a:lnTo>
                  <a:pt x="0" y="5700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80727" y="-806938"/>
            <a:ext cx="5363044" cy="5550043"/>
          </a:xfrm>
          <a:custGeom>
            <a:avLst/>
            <a:gdLst/>
            <a:ahLst/>
            <a:cxnLst/>
            <a:rect r="r" b="b" t="t" l="l"/>
            <a:pathLst>
              <a:path h="5550043" w="5363044">
                <a:moveTo>
                  <a:pt x="0" y="0"/>
                </a:moveTo>
                <a:lnTo>
                  <a:pt x="5363044" y="0"/>
                </a:lnTo>
                <a:lnTo>
                  <a:pt x="5363044" y="5550042"/>
                </a:lnTo>
                <a:lnTo>
                  <a:pt x="0" y="55500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61954" y="-86789"/>
            <a:ext cx="2630871" cy="2230979"/>
          </a:xfrm>
          <a:custGeom>
            <a:avLst/>
            <a:gdLst/>
            <a:ahLst/>
            <a:cxnLst/>
            <a:rect r="r" b="b" t="t" l="l"/>
            <a:pathLst>
              <a:path h="2230979" w="2630871">
                <a:moveTo>
                  <a:pt x="0" y="0"/>
                </a:moveTo>
                <a:lnTo>
                  <a:pt x="2630871" y="0"/>
                </a:lnTo>
                <a:lnTo>
                  <a:pt x="2630871" y="2230978"/>
                </a:lnTo>
                <a:lnTo>
                  <a:pt x="0" y="22309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61151" y="225615"/>
            <a:ext cx="12276746" cy="887188"/>
          </a:xfrm>
          <a:prstGeom prst="rect">
            <a:avLst/>
          </a:prstGeom>
        </p:spPr>
        <p:txBody>
          <a:bodyPr anchor="t" rtlCol="false" tIns="0" lIns="0" bIns="0" rIns="0">
            <a:spAutoFit/>
          </a:bodyPr>
          <a:lstStyle/>
          <a:p>
            <a:pPr algn="ctr" marL="0" indent="0" lvl="0">
              <a:lnSpc>
                <a:spcPts val="7274"/>
              </a:lnSpc>
            </a:pPr>
            <a:r>
              <a:rPr lang="en-US" b="true" sz="5196">
                <a:solidFill>
                  <a:srgbClr val="16394A"/>
                </a:solidFill>
                <a:latin typeface="Playpen Sans Bold"/>
                <a:ea typeface="Playpen Sans Bold"/>
                <a:cs typeface="Playpen Sans Bold"/>
                <a:sym typeface="Playpen Sans Bold"/>
              </a:rPr>
              <a:t>Non-Functional Requirements</a:t>
            </a:r>
          </a:p>
        </p:txBody>
      </p:sp>
      <p:sp>
        <p:nvSpPr>
          <p:cNvPr name="TextBox 6" id="6"/>
          <p:cNvSpPr txBox="true"/>
          <p:nvPr/>
        </p:nvSpPr>
        <p:spPr>
          <a:xfrm rot="0">
            <a:off x="2382317" y="119887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Quota Notification</a:t>
            </a:r>
          </a:p>
        </p:txBody>
      </p:sp>
      <p:sp>
        <p:nvSpPr>
          <p:cNvPr name="TextBox 7" id="7"/>
          <p:cNvSpPr txBox="true"/>
          <p:nvPr/>
        </p:nvSpPr>
        <p:spPr>
          <a:xfrm rot="0">
            <a:off x="2382317" y="1978199"/>
            <a:ext cx="15420239"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If an opportunity is full, the system shows a “Quota Full” message within 2 seconds.</a:t>
            </a:r>
          </a:p>
        </p:txBody>
      </p:sp>
      <p:sp>
        <p:nvSpPr>
          <p:cNvPr name="TextBox 8" id="8"/>
          <p:cNvSpPr txBox="true"/>
          <p:nvPr/>
        </p:nvSpPr>
        <p:spPr>
          <a:xfrm rot="0">
            <a:off x="2364939" y="5076825"/>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Concurrent User Support</a:t>
            </a:r>
          </a:p>
        </p:txBody>
      </p:sp>
      <p:sp>
        <p:nvSpPr>
          <p:cNvPr name="TextBox 9" id="9"/>
          <p:cNvSpPr txBox="true"/>
          <p:nvPr/>
        </p:nvSpPr>
        <p:spPr>
          <a:xfrm rot="0">
            <a:off x="2205222" y="6953396"/>
            <a:ext cx="14541504"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platform should follow WCAG 2.1 accessibility standards.</a:t>
            </a:r>
          </a:p>
        </p:txBody>
      </p:sp>
      <p:sp>
        <p:nvSpPr>
          <p:cNvPr name="TextBox 10" id="10"/>
          <p:cNvSpPr txBox="true"/>
          <p:nvPr/>
        </p:nvSpPr>
        <p:spPr>
          <a:xfrm rot="0">
            <a:off x="2382317" y="2392904"/>
            <a:ext cx="16199145"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High Availability</a:t>
            </a:r>
          </a:p>
        </p:txBody>
      </p:sp>
      <p:sp>
        <p:nvSpPr>
          <p:cNvPr name="TextBox 11" id="11"/>
          <p:cNvSpPr txBox="true"/>
          <p:nvPr/>
        </p:nvSpPr>
        <p:spPr>
          <a:xfrm rot="0">
            <a:off x="2382317" y="3652368"/>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Bot Protection</a:t>
            </a:r>
          </a:p>
        </p:txBody>
      </p:sp>
      <p:sp>
        <p:nvSpPr>
          <p:cNvPr name="TextBox 12" id="12"/>
          <p:cNvSpPr txBox="true"/>
          <p:nvPr/>
        </p:nvSpPr>
        <p:spPr>
          <a:xfrm rot="0">
            <a:off x="2364939" y="6269467"/>
            <a:ext cx="14311387" cy="596962"/>
          </a:xfrm>
          <a:prstGeom prst="rect">
            <a:avLst/>
          </a:prstGeom>
        </p:spPr>
        <p:txBody>
          <a:bodyPr anchor="t" rtlCol="false" tIns="0" lIns="0" bIns="0" rIns="0">
            <a:spAutoFit/>
          </a:bodyPr>
          <a:lstStyle/>
          <a:p>
            <a:pPr algn="just" marL="0" indent="0" lvl="0">
              <a:lnSpc>
                <a:spcPts val="4896"/>
              </a:lnSpc>
            </a:pPr>
            <a:r>
              <a:rPr lang="en-US" b="true" sz="3497" spc="-52">
                <a:solidFill>
                  <a:srgbClr val="16394A"/>
                </a:solidFill>
                <a:latin typeface="Playpen Sans Semi-Bold"/>
                <a:ea typeface="Playpen Sans Semi-Bold"/>
                <a:cs typeface="Playpen Sans Semi-Bold"/>
                <a:sym typeface="Playpen Sans Semi-Bold"/>
              </a:rPr>
              <a:t>Accessibility</a:t>
            </a:r>
          </a:p>
        </p:txBody>
      </p:sp>
      <p:sp>
        <p:nvSpPr>
          <p:cNvPr name="TextBox 13" id="13"/>
          <p:cNvSpPr txBox="true"/>
          <p:nvPr/>
        </p:nvSpPr>
        <p:spPr>
          <a:xfrm rot="0">
            <a:off x="2364939" y="3007532"/>
            <a:ext cx="1560292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should provide at least 99% uptime with health-check and auto-restart scripts.</a:t>
            </a:r>
          </a:p>
        </p:txBody>
      </p:sp>
      <p:sp>
        <p:nvSpPr>
          <p:cNvPr name="TextBox 14" id="14"/>
          <p:cNvSpPr txBox="true"/>
          <p:nvPr/>
        </p:nvSpPr>
        <p:spPr>
          <a:xfrm rot="0">
            <a:off x="2364939" y="4412046"/>
            <a:ext cx="14727886"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Human verification and rate-limiting prevent fake accounts and spam reviews.</a:t>
            </a:r>
          </a:p>
        </p:txBody>
      </p:sp>
      <p:sp>
        <p:nvSpPr>
          <p:cNvPr name="TextBox 15" id="15"/>
          <p:cNvSpPr txBox="true"/>
          <p:nvPr/>
        </p:nvSpPr>
        <p:spPr>
          <a:xfrm rot="0">
            <a:off x="2205222" y="5702362"/>
            <a:ext cx="15239394" cy="481380"/>
          </a:xfrm>
          <a:prstGeom prst="rect">
            <a:avLst/>
          </a:prstGeom>
        </p:spPr>
        <p:txBody>
          <a:bodyPr anchor="t" rtlCol="false" tIns="0" lIns="0" bIns="0" rIns="0">
            <a:spAutoFit/>
          </a:bodyPr>
          <a:lstStyle/>
          <a:p>
            <a:pPr algn="just" marL="0" indent="0" lvl="0">
              <a:lnSpc>
                <a:spcPts val="3917"/>
              </a:lnSpc>
            </a:pPr>
            <a:r>
              <a:rPr lang="en-US" sz="2798" spc="-41">
                <a:solidFill>
                  <a:srgbClr val="16394A"/>
                </a:solidFill>
                <a:latin typeface="Playpen Sans"/>
                <a:ea typeface="Playpen Sans"/>
                <a:cs typeface="Playpen Sans"/>
                <a:sym typeface="Playpen Sans"/>
              </a:rPr>
              <a:t>The system should support at least 1000 users at the same time.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01577" y="6584327"/>
            <a:ext cx="10676054" cy="495430"/>
          </a:xfrm>
          <a:prstGeom prst="rect">
            <a:avLst/>
          </a:prstGeom>
        </p:spPr>
        <p:txBody>
          <a:bodyPr anchor="t" rtlCol="false" tIns="0" lIns="0" bIns="0" rIns="0">
            <a:spAutoFit/>
          </a:bodyPr>
          <a:lstStyle/>
          <a:p>
            <a:pPr algn="l" marL="0" indent="0" lvl="0">
              <a:lnSpc>
                <a:spcPts val="3822"/>
              </a:lnSpc>
              <a:spcBef>
                <a:spcPct val="0"/>
              </a:spcBef>
            </a:pPr>
            <a:r>
              <a:rPr lang="en-US" sz="2730" strike="noStrike" u="none">
                <a:solidFill>
                  <a:srgbClr val="444444"/>
                </a:solidFill>
                <a:latin typeface="Poppins"/>
                <a:ea typeface="Poppins"/>
                <a:cs typeface="Poppins"/>
                <a:sym typeface="Poppins"/>
              </a:rPr>
              <a:t>Ensure privacy, security, and legal compliance.</a:t>
            </a:r>
          </a:p>
        </p:txBody>
      </p:sp>
      <p:grpSp>
        <p:nvGrpSpPr>
          <p:cNvPr name="Group 3" id="3"/>
          <p:cNvGrpSpPr/>
          <p:nvPr/>
        </p:nvGrpSpPr>
        <p:grpSpPr>
          <a:xfrm rot="0">
            <a:off x="17145000" y="762000"/>
            <a:ext cx="571500" cy="571500"/>
            <a:chOff x="0" y="0"/>
            <a:chExt cx="762000" cy="762000"/>
          </a:xfrm>
        </p:grpSpPr>
        <p:sp>
          <p:nvSpPr>
            <p:cNvPr name="Freeform 4" id="4"/>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F5400">
                <a:alpha val="40000"/>
              </a:srgbClr>
            </a:solidFill>
          </p:spPr>
        </p:sp>
      </p:grpSp>
      <p:grpSp>
        <p:nvGrpSpPr>
          <p:cNvPr name="Group 5" id="5"/>
          <p:cNvGrpSpPr/>
          <p:nvPr/>
        </p:nvGrpSpPr>
        <p:grpSpPr>
          <a:xfrm rot="0">
            <a:off x="12394245" y="8593155"/>
            <a:ext cx="5036505" cy="5036505"/>
            <a:chOff x="0" y="0"/>
            <a:chExt cx="571500" cy="571500"/>
          </a:xfrm>
        </p:grpSpPr>
        <p:sp>
          <p:nvSpPr>
            <p:cNvPr name="Freeform 6" id="6"/>
            <p:cNvSpPr/>
            <p:nvPr/>
          </p:nvSpPr>
          <p:spPr>
            <a:xfrm flipH="false" flipV="false" rot="0">
              <a:off x="0" y="0"/>
              <a:ext cx="571500" cy="571500"/>
            </a:xfrm>
            <a:custGeom>
              <a:avLst/>
              <a:gdLst/>
              <a:ahLst/>
              <a:cxnLst/>
              <a:rect r="r" b="b" t="t" l="l"/>
              <a:pathLst>
                <a:path h="571500" w="571500">
                  <a:moveTo>
                    <a:pt x="285750" y="0"/>
                  </a:moveTo>
                  <a:lnTo>
                    <a:pt x="571500" y="285750"/>
                  </a:lnTo>
                  <a:lnTo>
                    <a:pt x="285750" y="571500"/>
                  </a:lnTo>
                  <a:lnTo>
                    <a:pt x="0" y="285750"/>
                  </a:lnTo>
                  <a:lnTo>
                    <a:pt x="285750" y="0"/>
                  </a:lnTo>
                  <a:close/>
                </a:path>
              </a:pathLst>
            </a:custGeom>
            <a:solidFill>
              <a:srgbClr val="FF8C42">
                <a:alpha val="49804"/>
              </a:srgbClr>
            </a:solidFill>
          </p:spPr>
        </p:sp>
      </p:grpSp>
      <p:grpSp>
        <p:nvGrpSpPr>
          <p:cNvPr name="Group 7" id="7"/>
          <p:cNvGrpSpPr/>
          <p:nvPr/>
        </p:nvGrpSpPr>
        <p:grpSpPr>
          <a:xfrm rot="2700000">
            <a:off x="17448476" y="3043893"/>
            <a:ext cx="4224760" cy="4224760"/>
            <a:chOff x="0" y="0"/>
            <a:chExt cx="381000" cy="381000"/>
          </a:xfrm>
        </p:grpSpPr>
        <p:sp>
          <p:nvSpPr>
            <p:cNvPr name="Freeform 8" id="8"/>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close/>
                </a:path>
              </a:pathLst>
            </a:custGeom>
            <a:solidFill>
              <a:srgbClr val="FF5400">
                <a:alpha val="49804"/>
              </a:srgbClr>
            </a:solidFill>
          </p:spPr>
        </p:sp>
      </p:grpSp>
      <p:grpSp>
        <p:nvGrpSpPr>
          <p:cNvPr name="Group 9" id="9"/>
          <p:cNvGrpSpPr/>
          <p:nvPr/>
        </p:nvGrpSpPr>
        <p:grpSpPr>
          <a:xfrm rot="0">
            <a:off x="16192500" y="8096250"/>
            <a:ext cx="762000" cy="762000"/>
            <a:chOff x="0" y="0"/>
            <a:chExt cx="1016000" cy="1016000"/>
          </a:xfrm>
        </p:grpSpPr>
        <p:sp>
          <p:nvSpPr>
            <p:cNvPr name="Freeform 10" id="10"/>
            <p:cNvSpPr/>
            <p:nvPr/>
          </p:nvSpPr>
          <p:spPr>
            <a:xfrm flipH="false" flipV="false" rot="0">
              <a:off x="0" y="0"/>
              <a:ext cx="1016000" cy="1016000"/>
            </a:xfrm>
            <a:custGeom>
              <a:avLst/>
              <a:gdLst/>
              <a:ahLst/>
              <a:cxnLst/>
              <a:rect r="r" b="b" t="t" l="l"/>
              <a:pathLst>
                <a:path h="1016000" w="1016000">
                  <a:moveTo>
                    <a:pt x="508000" y="0"/>
                  </a:moveTo>
                  <a:cubicBezTo>
                    <a:pt x="227439" y="0"/>
                    <a:pt x="0" y="227439"/>
                    <a:pt x="0" y="508000"/>
                  </a:cubicBezTo>
                  <a:cubicBezTo>
                    <a:pt x="0" y="788561"/>
                    <a:pt x="227439" y="1016000"/>
                    <a:pt x="508000" y="1016000"/>
                  </a:cubicBezTo>
                  <a:cubicBezTo>
                    <a:pt x="788561" y="1016000"/>
                    <a:pt x="1016000" y="788561"/>
                    <a:pt x="1016000" y="508000"/>
                  </a:cubicBezTo>
                  <a:cubicBezTo>
                    <a:pt x="1016000" y="227439"/>
                    <a:pt x="788561" y="0"/>
                    <a:pt x="508000" y="0"/>
                  </a:cubicBezTo>
                  <a:close/>
                </a:path>
              </a:pathLst>
            </a:custGeom>
            <a:solidFill>
              <a:srgbClr val="FF8C42">
                <a:alpha val="29804"/>
              </a:srgbClr>
            </a:solidFill>
          </p:spPr>
        </p:sp>
      </p:grpSp>
      <p:grpSp>
        <p:nvGrpSpPr>
          <p:cNvPr name="Group 11" id="11"/>
          <p:cNvGrpSpPr/>
          <p:nvPr/>
        </p:nvGrpSpPr>
        <p:grpSpPr>
          <a:xfrm rot="0">
            <a:off x="-4310413" y="-3000523"/>
            <a:ext cx="5480526" cy="5480526"/>
            <a:chOff x="0" y="0"/>
            <a:chExt cx="317500" cy="317500"/>
          </a:xfrm>
        </p:grpSpPr>
        <p:sp>
          <p:nvSpPr>
            <p:cNvPr name="Freeform 12" id="12"/>
            <p:cNvSpPr/>
            <p:nvPr/>
          </p:nvSpPr>
          <p:spPr>
            <a:xfrm flipH="false" flipV="false" rot="0">
              <a:off x="0" y="0"/>
              <a:ext cx="317500" cy="317500"/>
            </a:xfrm>
            <a:custGeom>
              <a:avLst/>
              <a:gdLst/>
              <a:ahLst/>
              <a:cxnLst/>
              <a:rect r="r" b="b" t="t" l="l"/>
              <a:pathLst>
                <a:path h="317500" w="317500">
                  <a:moveTo>
                    <a:pt x="158750" y="0"/>
                  </a:moveTo>
                  <a:cubicBezTo>
                    <a:pt x="71075" y="0"/>
                    <a:pt x="0" y="71075"/>
                    <a:pt x="0" y="158750"/>
                  </a:cubicBezTo>
                  <a:cubicBezTo>
                    <a:pt x="0" y="246425"/>
                    <a:pt x="71075" y="317500"/>
                    <a:pt x="158750" y="317500"/>
                  </a:cubicBezTo>
                  <a:cubicBezTo>
                    <a:pt x="246425" y="317500"/>
                    <a:pt x="317500" y="246425"/>
                    <a:pt x="317500" y="158750"/>
                  </a:cubicBezTo>
                  <a:cubicBezTo>
                    <a:pt x="317500" y="71075"/>
                    <a:pt x="246425" y="0"/>
                    <a:pt x="158750" y="0"/>
                  </a:cubicBezTo>
                  <a:close/>
                </a:path>
              </a:pathLst>
            </a:custGeom>
            <a:solidFill>
              <a:srgbClr val="FF5400">
                <a:alpha val="60000"/>
              </a:srgbClr>
            </a:solidFill>
          </p:spPr>
        </p:sp>
      </p:grpSp>
      <p:sp>
        <p:nvSpPr>
          <p:cNvPr name="TextBox 13" id="13"/>
          <p:cNvSpPr txBox="true"/>
          <p:nvPr/>
        </p:nvSpPr>
        <p:spPr>
          <a:xfrm rot="0">
            <a:off x="413188" y="9129819"/>
            <a:ext cx="11578279" cy="520529"/>
          </a:xfrm>
          <a:prstGeom prst="rect">
            <a:avLst/>
          </a:prstGeom>
        </p:spPr>
        <p:txBody>
          <a:bodyPr anchor="t" rtlCol="false" tIns="0" lIns="0" bIns="0" rIns="0">
            <a:spAutoFit/>
          </a:bodyPr>
          <a:lstStyle/>
          <a:p>
            <a:pPr algn="l" marL="0" indent="0" lvl="0">
              <a:lnSpc>
                <a:spcPts val="4145"/>
              </a:lnSpc>
              <a:spcBef>
                <a:spcPct val="0"/>
              </a:spcBef>
            </a:pPr>
            <a:r>
              <a:rPr lang="en-US" sz="2960" strike="noStrike" u="none">
                <a:solidFill>
                  <a:srgbClr val="444444"/>
                </a:solidFill>
                <a:latin typeface="Poppins"/>
                <a:ea typeface="Poppins"/>
                <a:cs typeface="Poppins"/>
                <a:sym typeface="Poppins"/>
              </a:rPr>
              <a:t>Gain technical experience, recognition, and career growth.</a:t>
            </a:r>
          </a:p>
        </p:txBody>
      </p:sp>
      <p:sp>
        <p:nvSpPr>
          <p:cNvPr name="TextBox 14" id="14"/>
          <p:cNvSpPr txBox="true"/>
          <p:nvPr/>
        </p:nvSpPr>
        <p:spPr>
          <a:xfrm rot="0">
            <a:off x="514365" y="4747741"/>
            <a:ext cx="10877902" cy="981762"/>
          </a:xfrm>
          <a:prstGeom prst="rect">
            <a:avLst/>
          </a:prstGeom>
        </p:spPr>
        <p:txBody>
          <a:bodyPr anchor="t" rtlCol="false" tIns="0" lIns="0" bIns="0" rIns="0">
            <a:spAutoFit/>
          </a:bodyPr>
          <a:lstStyle/>
          <a:p>
            <a:pPr algn="l" marL="0" indent="0" lvl="0">
              <a:lnSpc>
                <a:spcPts val="3894"/>
              </a:lnSpc>
              <a:spcBef>
                <a:spcPct val="0"/>
              </a:spcBef>
            </a:pPr>
            <a:r>
              <a:rPr lang="en-US" sz="2781" strike="noStrike" u="none">
                <a:solidFill>
                  <a:srgbClr val="444444"/>
                </a:solidFill>
                <a:latin typeface="Poppins"/>
                <a:ea typeface="Poppins"/>
                <a:cs typeface="Poppins"/>
                <a:sym typeface="Poppins"/>
              </a:rPr>
              <a:t>Manage the platform and ensure smooth system performance.</a:t>
            </a:r>
          </a:p>
        </p:txBody>
      </p:sp>
      <p:sp>
        <p:nvSpPr>
          <p:cNvPr name="TextBox 15" id="15"/>
          <p:cNvSpPr txBox="true"/>
          <p:nvPr/>
        </p:nvSpPr>
        <p:spPr>
          <a:xfrm rot="0">
            <a:off x="456755" y="7821754"/>
            <a:ext cx="11810786" cy="548502"/>
          </a:xfrm>
          <a:prstGeom prst="rect">
            <a:avLst/>
          </a:prstGeom>
        </p:spPr>
        <p:txBody>
          <a:bodyPr anchor="t" rtlCol="false" tIns="0" lIns="0" bIns="0" rIns="0">
            <a:spAutoFit/>
          </a:bodyPr>
          <a:lstStyle/>
          <a:p>
            <a:pPr algn="l" marL="0" indent="0" lvl="0">
              <a:lnSpc>
                <a:spcPts val="4228"/>
              </a:lnSpc>
              <a:spcBef>
                <a:spcPct val="0"/>
              </a:spcBef>
            </a:pPr>
            <a:r>
              <a:rPr lang="en-US" sz="3020" strike="noStrike" u="none">
                <a:solidFill>
                  <a:srgbClr val="444444"/>
                </a:solidFill>
                <a:latin typeface="Poppins"/>
                <a:ea typeface="Poppins"/>
                <a:cs typeface="Poppins"/>
                <a:sym typeface="Poppins"/>
              </a:rPr>
              <a:t>Find qualified candidates for jobs, internships, and programs.</a:t>
            </a:r>
          </a:p>
        </p:txBody>
      </p:sp>
      <p:sp>
        <p:nvSpPr>
          <p:cNvPr name="TextBox 16" id="16"/>
          <p:cNvSpPr txBox="true"/>
          <p:nvPr/>
        </p:nvSpPr>
        <p:spPr>
          <a:xfrm rot="0">
            <a:off x="508009" y="3604776"/>
            <a:ext cx="10908456" cy="504349"/>
          </a:xfrm>
          <a:prstGeom prst="rect">
            <a:avLst/>
          </a:prstGeom>
        </p:spPr>
        <p:txBody>
          <a:bodyPr anchor="t" rtlCol="false" tIns="0" lIns="0" bIns="0" rIns="0">
            <a:spAutoFit/>
          </a:bodyPr>
          <a:lstStyle/>
          <a:p>
            <a:pPr algn="l" marL="0" indent="0" lvl="0">
              <a:lnSpc>
                <a:spcPts val="3905"/>
              </a:lnSpc>
              <a:spcBef>
                <a:spcPct val="0"/>
              </a:spcBef>
            </a:pPr>
            <a:r>
              <a:rPr lang="en-US" sz="2789" strike="noStrike" u="none">
                <a:solidFill>
                  <a:srgbClr val="444444"/>
                </a:solidFill>
                <a:latin typeface="Poppins"/>
                <a:ea typeface="Poppins"/>
                <a:cs typeface="Poppins"/>
                <a:sym typeface="Poppins"/>
              </a:rPr>
              <a:t>Promote their programs and reach a wider student audience.</a:t>
            </a:r>
          </a:p>
        </p:txBody>
      </p:sp>
      <p:sp>
        <p:nvSpPr>
          <p:cNvPr name="TextBox 17" id="17"/>
          <p:cNvSpPr txBox="true"/>
          <p:nvPr/>
        </p:nvSpPr>
        <p:spPr>
          <a:xfrm rot="0">
            <a:off x="456755" y="1818535"/>
            <a:ext cx="10108053" cy="908149"/>
          </a:xfrm>
          <a:prstGeom prst="rect">
            <a:avLst/>
          </a:prstGeom>
        </p:spPr>
        <p:txBody>
          <a:bodyPr anchor="t" rtlCol="false" tIns="0" lIns="0" bIns="0" rIns="0">
            <a:spAutoFit/>
          </a:bodyPr>
          <a:lstStyle/>
          <a:p>
            <a:pPr algn="l" marL="0" indent="0" lvl="0">
              <a:lnSpc>
                <a:spcPts val="3619"/>
              </a:lnSpc>
              <a:spcBef>
                <a:spcPct val="0"/>
              </a:spcBef>
            </a:pPr>
            <a:r>
              <a:rPr lang="en-US" sz="2585" strike="noStrike" u="none">
                <a:solidFill>
                  <a:srgbClr val="444444"/>
                </a:solidFill>
                <a:latin typeface="Poppins"/>
                <a:ea typeface="Poppins"/>
                <a:cs typeface="Poppins"/>
                <a:sym typeface="Poppins"/>
              </a:rPr>
              <a:t>Benefit from easier access to personalized academic and career opportunities.</a:t>
            </a:r>
          </a:p>
        </p:txBody>
      </p:sp>
      <p:sp>
        <p:nvSpPr>
          <p:cNvPr name="TextBox 18" id="18"/>
          <p:cNvSpPr txBox="true"/>
          <p:nvPr/>
        </p:nvSpPr>
        <p:spPr>
          <a:xfrm rot="0">
            <a:off x="7730444" y="481012"/>
            <a:ext cx="4762500" cy="514350"/>
          </a:xfrm>
          <a:prstGeom prst="rect">
            <a:avLst/>
          </a:prstGeom>
        </p:spPr>
        <p:txBody>
          <a:bodyPr anchor="t" rtlCol="false" tIns="0" lIns="0" bIns="0" rIns="0">
            <a:spAutoFit/>
          </a:bodyPr>
          <a:lstStyle/>
          <a:p>
            <a:pPr algn="ctr" marL="0" indent="0" lvl="0">
              <a:lnSpc>
                <a:spcPts val="3300"/>
              </a:lnSpc>
              <a:spcBef>
                <a:spcPct val="0"/>
              </a:spcBef>
            </a:pPr>
            <a:r>
              <a:rPr lang="en-US" sz="3000" strike="noStrike" u="none">
                <a:solidFill>
                  <a:srgbClr val="FF5400"/>
                </a:solidFill>
                <a:latin typeface="Agrandir"/>
                <a:ea typeface="Agrandir"/>
                <a:cs typeface="Agrandir"/>
                <a:sym typeface="Agrandir"/>
              </a:rPr>
              <a:t>Main Stakeholders</a:t>
            </a:r>
          </a:p>
        </p:txBody>
      </p:sp>
      <p:sp>
        <p:nvSpPr>
          <p:cNvPr name="TextBox 19" id="19"/>
          <p:cNvSpPr txBox="true"/>
          <p:nvPr/>
        </p:nvSpPr>
        <p:spPr>
          <a:xfrm rot="0">
            <a:off x="0" y="171471"/>
            <a:ext cx="8572500" cy="904240"/>
          </a:xfrm>
          <a:prstGeom prst="rect">
            <a:avLst/>
          </a:prstGeom>
        </p:spPr>
        <p:txBody>
          <a:bodyPr anchor="t" rtlCol="false" tIns="0" lIns="0" bIns="0" rIns="0">
            <a:spAutoFit/>
          </a:bodyPr>
          <a:lstStyle/>
          <a:p>
            <a:pPr algn="ctr" marL="0" indent="0" lvl="0">
              <a:lnSpc>
                <a:spcPts val="5719"/>
              </a:lnSpc>
              <a:spcBef>
                <a:spcPct val="0"/>
              </a:spcBef>
            </a:pPr>
            <a:r>
              <a:rPr lang="en-US" sz="5199" strike="noStrike" u="none">
                <a:solidFill>
                  <a:srgbClr val="111111"/>
                </a:solidFill>
                <a:latin typeface="Agrandir"/>
                <a:ea typeface="Agrandir"/>
                <a:cs typeface="Agrandir"/>
                <a:sym typeface="Agrandir"/>
              </a:rPr>
              <a:t>Stakeholder Analysis</a:t>
            </a:r>
          </a:p>
        </p:txBody>
      </p:sp>
      <p:sp>
        <p:nvSpPr>
          <p:cNvPr name="AutoShape 20" id="20"/>
          <p:cNvSpPr/>
          <p:nvPr/>
        </p:nvSpPr>
        <p:spPr>
          <a:xfrm>
            <a:off x="456755" y="1261448"/>
            <a:ext cx="518362" cy="0"/>
          </a:xfrm>
          <a:prstGeom prst="line">
            <a:avLst/>
          </a:prstGeom>
          <a:ln cap="rnd" w="47625">
            <a:solidFill>
              <a:srgbClr val="FF5400"/>
            </a:solidFill>
            <a:prstDash val="solid"/>
            <a:headEnd type="none" len="sm" w="sm"/>
            <a:tailEnd type="none" len="sm" w="sm"/>
          </a:ln>
        </p:spPr>
      </p:sp>
      <p:sp>
        <p:nvSpPr>
          <p:cNvPr name="TextBox 21" id="21"/>
          <p:cNvSpPr txBox="true"/>
          <p:nvPr/>
        </p:nvSpPr>
        <p:spPr>
          <a:xfrm rot="0">
            <a:off x="514365" y="1294968"/>
            <a:ext cx="10108053" cy="590242"/>
          </a:xfrm>
          <a:prstGeom prst="rect">
            <a:avLst/>
          </a:prstGeom>
        </p:spPr>
        <p:txBody>
          <a:bodyPr anchor="t" rtlCol="false" tIns="0" lIns="0" bIns="0" rIns="0">
            <a:spAutoFit/>
          </a:bodyPr>
          <a:lstStyle/>
          <a:p>
            <a:pPr algn="l" marL="0" indent="0" lvl="0">
              <a:lnSpc>
                <a:spcPts val="4421"/>
              </a:lnSpc>
              <a:spcBef>
                <a:spcPct val="0"/>
              </a:spcBef>
            </a:pPr>
            <a:r>
              <a:rPr lang="en-US" b="true" sz="3401" strike="noStrike" u="none">
                <a:solidFill>
                  <a:srgbClr val="111111"/>
                </a:solidFill>
                <a:latin typeface="Poppins Bold"/>
                <a:ea typeface="Poppins Bold"/>
                <a:cs typeface="Poppins Bold"/>
                <a:sym typeface="Poppins Bold"/>
              </a:rPr>
              <a:t>End Users</a:t>
            </a:r>
          </a:p>
        </p:txBody>
      </p:sp>
      <p:sp>
        <p:nvSpPr>
          <p:cNvPr name="AutoShape 22" id="22"/>
          <p:cNvSpPr/>
          <p:nvPr/>
        </p:nvSpPr>
        <p:spPr>
          <a:xfrm>
            <a:off x="413188" y="2913390"/>
            <a:ext cx="559408" cy="0"/>
          </a:xfrm>
          <a:prstGeom prst="line">
            <a:avLst/>
          </a:prstGeom>
          <a:ln cap="rnd" w="47625">
            <a:solidFill>
              <a:srgbClr val="FF5400"/>
            </a:solidFill>
            <a:prstDash val="solid"/>
            <a:headEnd type="none" len="sm" w="sm"/>
            <a:tailEnd type="none" len="sm" w="sm"/>
          </a:ln>
        </p:spPr>
      </p:sp>
      <p:sp>
        <p:nvSpPr>
          <p:cNvPr name="TextBox 23" id="23"/>
          <p:cNvSpPr txBox="true"/>
          <p:nvPr/>
        </p:nvSpPr>
        <p:spPr>
          <a:xfrm rot="0">
            <a:off x="508009" y="3025990"/>
            <a:ext cx="10908456" cy="630946"/>
          </a:xfrm>
          <a:prstGeom prst="rect">
            <a:avLst/>
          </a:prstGeom>
        </p:spPr>
        <p:txBody>
          <a:bodyPr anchor="t" rtlCol="false" tIns="0" lIns="0" bIns="0" rIns="0">
            <a:spAutoFit/>
          </a:bodyPr>
          <a:lstStyle/>
          <a:p>
            <a:pPr algn="l" marL="0" indent="0" lvl="0">
              <a:lnSpc>
                <a:spcPts val="4771"/>
              </a:lnSpc>
              <a:spcBef>
                <a:spcPct val="0"/>
              </a:spcBef>
            </a:pPr>
            <a:r>
              <a:rPr lang="en-US" b="true" sz="3670" strike="noStrike" u="none">
                <a:solidFill>
                  <a:srgbClr val="111111"/>
                </a:solidFill>
                <a:latin typeface="Poppins Bold"/>
                <a:ea typeface="Poppins Bold"/>
                <a:cs typeface="Poppins Bold"/>
                <a:sym typeface="Poppins Bold"/>
              </a:rPr>
              <a:t>Universities &amp; Educational Institutions</a:t>
            </a:r>
          </a:p>
        </p:txBody>
      </p:sp>
      <p:sp>
        <p:nvSpPr>
          <p:cNvPr name="AutoShape 24" id="24"/>
          <p:cNvSpPr/>
          <p:nvPr/>
        </p:nvSpPr>
        <p:spPr>
          <a:xfrm>
            <a:off x="514365" y="7301781"/>
            <a:ext cx="605681" cy="0"/>
          </a:xfrm>
          <a:prstGeom prst="line">
            <a:avLst/>
          </a:prstGeom>
          <a:ln cap="rnd" w="57150">
            <a:solidFill>
              <a:srgbClr val="FF5400"/>
            </a:solidFill>
            <a:prstDash val="solid"/>
            <a:headEnd type="none" len="sm" w="sm"/>
            <a:tailEnd type="none" len="sm" w="sm"/>
          </a:ln>
        </p:spPr>
      </p:sp>
      <p:sp>
        <p:nvSpPr>
          <p:cNvPr name="TextBox 25" id="25"/>
          <p:cNvSpPr txBox="true"/>
          <p:nvPr/>
        </p:nvSpPr>
        <p:spPr>
          <a:xfrm rot="0">
            <a:off x="456755" y="7203829"/>
            <a:ext cx="11810786" cy="676834"/>
          </a:xfrm>
          <a:prstGeom prst="rect">
            <a:avLst/>
          </a:prstGeom>
        </p:spPr>
        <p:txBody>
          <a:bodyPr anchor="t" rtlCol="false" tIns="0" lIns="0" bIns="0" rIns="0">
            <a:spAutoFit/>
          </a:bodyPr>
          <a:lstStyle/>
          <a:p>
            <a:pPr algn="l" marL="0" indent="0" lvl="0">
              <a:lnSpc>
                <a:spcPts val="5166"/>
              </a:lnSpc>
              <a:spcBef>
                <a:spcPct val="0"/>
              </a:spcBef>
            </a:pPr>
            <a:r>
              <a:rPr lang="en-US" b="true" sz="3974" strike="noStrike" u="none">
                <a:solidFill>
                  <a:srgbClr val="111111"/>
                </a:solidFill>
                <a:latin typeface="Poppins Bold"/>
                <a:ea typeface="Poppins Bold"/>
                <a:cs typeface="Poppins Bold"/>
                <a:sym typeface="Poppins Bold"/>
              </a:rPr>
              <a:t>Companies &amp; Employers</a:t>
            </a:r>
          </a:p>
        </p:txBody>
      </p:sp>
      <p:sp>
        <p:nvSpPr>
          <p:cNvPr name="AutoShape 26" id="26"/>
          <p:cNvSpPr/>
          <p:nvPr/>
        </p:nvSpPr>
        <p:spPr>
          <a:xfrm>
            <a:off x="514365" y="4382782"/>
            <a:ext cx="557841" cy="0"/>
          </a:xfrm>
          <a:prstGeom prst="line">
            <a:avLst/>
          </a:prstGeom>
          <a:ln cap="rnd" w="57150">
            <a:solidFill>
              <a:srgbClr val="FF5400"/>
            </a:solidFill>
            <a:prstDash val="solid"/>
            <a:headEnd type="none" len="sm" w="sm"/>
            <a:tailEnd type="none" len="sm" w="sm"/>
          </a:ln>
        </p:spPr>
      </p:sp>
      <p:sp>
        <p:nvSpPr>
          <p:cNvPr name="TextBox 27" id="27"/>
          <p:cNvSpPr txBox="true"/>
          <p:nvPr/>
        </p:nvSpPr>
        <p:spPr>
          <a:xfrm rot="0">
            <a:off x="514365" y="4316107"/>
            <a:ext cx="10877902" cy="619867"/>
          </a:xfrm>
          <a:prstGeom prst="rect">
            <a:avLst/>
          </a:prstGeom>
        </p:spPr>
        <p:txBody>
          <a:bodyPr anchor="t" rtlCol="false" tIns="0" lIns="0" bIns="0" rIns="0">
            <a:spAutoFit/>
          </a:bodyPr>
          <a:lstStyle/>
          <a:p>
            <a:pPr algn="l" marL="0" indent="0" lvl="0">
              <a:lnSpc>
                <a:spcPts val="4758"/>
              </a:lnSpc>
              <a:spcBef>
                <a:spcPct val="0"/>
              </a:spcBef>
            </a:pPr>
            <a:r>
              <a:rPr lang="en-US" b="true" sz="3660" strike="noStrike" u="none">
                <a:solidFill>
                  <a:srgbClr val="111111"/>
                </a:solidFill>
                <a:latin typeface="Poppins Bold"/>
                <a:ea typeface="Poppins Bold"/>
                <a:cs typeface="Poppins Bold"/>
                <a:sym typeface="Poppins Bold"/>
              </a:rPr>
              <a:t>Platform Administrators</a:t>
            </a:r>
          </a:p>
        </p:txBody>
      </p:sp>
      <p:sp>
        <p:nvSpPr>
          <p:cNvPr name="AutoShape 28" id="28"/>
          <p:cNvSpPr/>
          <p:nvPr/>
        </p:nvSpPr>
        <p:spPr>
          <a:xfrm>
            <a:off x="489220" y="8593155"/>
            <a:ext cx="593758" cy="0"/>
          </a:xfrm>
          <a:prstGeom prst="line">
            <a:avLst/>
          </a:prstGeom>
          <a:ln cap="rnd" w="57150">
            <a:solidFill>
              <a:srgbClr val="FF5400"/>
            </a:solidFill>
            <a:prstDash val="solid"/>
            <a:headEnd type="none" len="sm" w="sm"/>
            <a:tailEnd type="none" len="sm" w="sm"/>
          </a:ln>
        </p:spPr>
      </p:sp>
      <p:sp>
        <p:nvSpPr>
          <p:cNvPr name="TextBox 29" id="29"/>
          <p:cNvSpPr txBox="true"/>
          <p:nvPr/>
        </p:nvSpPr>
        <p:spPr>
          <a:xfrm rot="0">
            <a:off x="413188" y="8541009"/>
            <a:ext cx="11578279" cy="665010"/>
          </a:xfrm>
          <a:prstGeom prst="rect">
            <a:avLst/>
          </a:prstGeom>
        </p:spPr>
        <p:txBody>
          <a:bodyPr anchor="t" rtlCol="false" tIns="0" lIns="0" bIns="0" rIns="0">
            <a:spAutoFit/>
          </a:bodyPr>
          <a:lstStyle/>
          <a:p>
            <a:pPr algn="l" marL="0" indent="0" lvl="0">
              <a:lnSpc>
                <a:spcPts val="5064"/>
              </a:lnSpc>
              <a:spcBef>
                <a:spcPct val="0"/>
              </a:spcBef>
            </a:pPr>
            <a:r>
              <a:rPr lang="en-US" b="true" sz="3896" strike="noStrike" u="none">
                <a:solidFill>
                  <a:srgbClr val="111111"/>
                </a:solidFill>
                <a:latin typeface="Poppins Bold"/>
                <a:ea typeface="Poppins Bold"/>
                <a:cs typeface="Poppins Bold"/>
                <a:sym typeface="Poppins Bold"/>
              </a:rPr>
              <a:t>Development Team</a:t>
            </a:r>
          </a:p>
        </p:txBody>
      </p:sp>
      <p:sp>
        <p:nvSpPr>
          <p:cNvPr name="AutoShape 30" id="30"/>
          <p:cNvSpPr/>
          <p:nvPr/>
        </p:nvSpPr>
        <p:spPr>
          <a:xfrm>
            <a:off x="501577" y="5997552"/>
            <a:ext cx="547490" cy="0"/>
          </a:xfrm>
          <a:prstGeom prst="line">
            <a:avLst/>
          </a:prstGeom>
          <a:ln cap="rnd" w="47625">
            <a:solidFill>
              <a:srgbClr val="FF5400"/>
            </a:solidFill>
            <a:prstDash val="solid"/>
            <a:headEnd type="none" len="sm" w="sm"/>
            <a:tailEnd type="none" len="sm" w="sm"/>
          </a:ln>
        </p:spPr>
      </p:sp>
      <p:sp>
        <p:nvSpPr>
          <p:cNvPr name="TextBox 31" id="31"/>
          <p:cNvSpPr txBox="true"/>
          <p:nvPr/>
        </p:nvSpPr>
        <p:spPr>
          <a:xfrm rot="0">
            <a:off x="501577" y="6027601"/>
            <a:ext cx="10676054" cy="609603"/>
          </a:xfrm>
          <a:prstGeom prst="rect">
            <a:avLst/>
          </a:prstGeom>
        </p:spPr>
        <p:txBody>
          <a:bodyPr anchor="t" rtlCol="false" tIns="0" lIns="0" bIns="0" rIns="0">
            <a:spAutoFit/>
          </a:bodyPr>
          <a:lstStyle/>
          <a:p>
            <a:pPr algn="l" marL="0" indent="0" lvl="0">
              <a:lnSpc>
                <a:spcPts val="4670"/>
              </a:lnSpc>
              <a:spcBef>
                <a:spcPct val="0"/>
              </a:spcBef>
            </a:pPr>
            <a:r>
              <a:rPr lang="en-US" b="true" sz="3592" strike="noStrike" u="none">
                <a:solidFill>
                  <a:srgbClr val="111111"/>
                </a:solidFill>
                <a:latin typeface="Poppins Bold"/>
                <a:ea typeface="Poppins Bold"/>
                <a:cs typeface="Poppins Bold"/>
                <a:sym typeface="Poppins Bold"/>
              </a:rPr>
              <a:t>Government &amp; Regulatory Authorities</a:t>
            </a:r>
          </a:p>
        </p:txBody>
      </p:sp>
      <p:grpSp>
        <p:nvGrpSpPr>
          <p:cNvPr name="Group 32" id="32"/>
          <p:cNvGrpSpPr/>
          <p:nvPr/>
        </p:nvGrpSpPr>
        <p:grpSpPr>
          <a:xfrm rot="0">
            <a:off x="12549188" y="-3238500"/>
            <a:ext cx="4667250" cy="4667250"/>
            <a:chOff x="0" y="0"/>
            <a:chExt cx="508000" cy="508000"/>
          </a:xfrm>
        </p:grpSpPr>
        <p:sp>
          <p:nvSpPr>
            <p:cNvPr name="Freeform 33" id="3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6700" y="9039225"/>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Reach a targeted audience interested in education and careers.</a:t>
            </a:r>
          </a:p>
        </p:txBody>
      </p:sp>
      <p:grpSp>
        <p:nvGrpSpPr>
          <p:cNvPr name="Group 3" id="3"/>
          <p:cNvGrpSpPr/>
          <p:nvPr/>
        </p:nvGrpSpPr>
        <p:grpSpPr>
          <a:xfrm rot="0">
            <a:off x="-1362581" y="-1035875"/>
            <a:ext cx="3745137" cy="3745137"/>
            <a:chOff x="0" y="0"/>
            <a:chExt cx="1905000" cy="1905000"/>
          </a:xfrm>
        </p:grpSpPr>
        <p:sp>
          <p:nvSpPr>
            <p:cNvPr name="Freeform 4" id="4"/>
            <p:cNvSpPr/>
            <p:nvPr/>
          </p:nvSpPr>
          <p:spPr>
            <a:xfrm flipH="false" flipV="false" rot="0">
              <a:off x="0" y="0"/>
              <a:ext cx="1905000" cy="1905000"/>
            </a:xfrm>
            <a:custGeom>
              <a:avLst/>
              <a:gdLst/>
              <a:ahLst/>
              <a:cxnLst/>
              <a:rect r="r" b="b" t="t" l="l"/>
              <a:pathLst>
                <a:path h="1905000" w="1905000">
                  <a:moveTo>
                    <a:pt x="952500" y="0"/>
                  </a:moveTo>
                  <a:cubicBezTo>
                    <a:pt x="426449" y="0"/>
                    <a:pt x="0" y="426449"/>
                    <a:pt x="0" y="952500"/>
                  </a:cubicBezTo>
                  <a:cubicBezTo>
                    <a:pt x="0" y="1478551"/>
                    <a:pt x="426449" y="1905000"/>
                    <a:pt x="952500" y="1905000"/>
                  </a:cubicBezTo>
                  <a:cubicBezTo>
                    <a:pt x="1478551" y="1905000"/>
                    <a:pt x="1905000" y="1478551"/>
                    <a:pt x="1905000" y="952500"/>
                  </a:cubicBezTo>
                  <a:cubicBezTo>
                    <a:pt x="1905000" y="426449"/>
                    <a:pt x="1478551" y="0"/>
                    <a:pt x="952500" y="0"/>
                  </a:cubicBezTo>
                  <a:close/>
                </a:path>
              </a:pathLst>
            </a:custGeom>
            <a:solidFill>
              <a:srgbClr val="FF5400">
                <a:alpha val="9804"/>
              </a:srgbClr>
            </a:solidFill>
          </p:spPr>
        </p:sp>
      </p:grpSp>
      <p:grpSp>
        <p:nvGrpSpPr>
          <p:cNvPr name="Group 5" id="5"/>
          <p:cNvGrpSpPr/>
          <p:nvPr/>
        </p:nvGrpSpPr>
        <p:grpSpPr>
          <a:xfrm rot="0">
            <a:off x="13358813" y="-2495022"/>
            <a:ext cx="4286250" cy="4286250"/>
            <a:chOff x="0" y="0"/>
            <a:chExt cx="889000" cy="889000"/>
          </a:xfrm>
        </p:grpSpPr>
        <p:sp>
          <p:nvSpPr>
            <p:cNvPr name="Freeform 6" id="6"/>
            <p:cNvSpPr/>
            <p:nvPr/>
          </p:nvSpPr>
          <p:spPr>
            <a:xfrm flipH="false" flipV="false" rot="0">
              <a:off x="0" y="0"/>
              <a:ext cx="889000" cy="889000"/>
            </a:xfrm>
            <a:custGeom>
              <a:avLst/>
              <a:gdLst/>
              <a:ahLst/>
              <a:cxnLst/>
              <a:rect r="r" b="b" t="t" l="l"/>
              <a:pathLst>
                <a:path h="889000" w="889000">
                  <a:moveTo>
                    <a:pt x="444500" y="0"/>
                  </a:moveTo>
                  <a:cubicBezTo>
                    <a:pt x="199009" y="0"/>
                    <a:pt x="0" y="199009"/>
                    <a:pt x="0" y="444500"/>
                  </a:cubicBezTo>
                  <a:cubicBezTo>
                    <a:pt x="0" y="689991"/>
                    <a:pt x="199009" y="889000"/>
                    <a:pt x="444500" y="889000"/>
                  </a:cubicBezTo>
                  <a:cubicBezTo>
                    <a:pt x="689991" y="889000"/>
                    <a:pt x="889000" y="689991"/>
                    <a:pt x="889000" y="444500"/>
                  </a:cubicBezTo>
                  <a:cubicBezTo>
                    <a:pt x="889000" y="199009"/>
                    <a:pt x="689991" y="0"/>
                    <a:pt x="444500" y="0"/>
                  </a:cubicBezTo>
                  <a:close/>
                </a:path>
              </a:pathLst>
            </a:custGeom>
            <a:solidFill>
              <a:srgbClr val="FF5400">
                <a:alpha val="40000"/>
              </a:srgbClr>
            </a:solidFill>
          </p:spPr>
        </p:sp>
      </p:grpSp>
      <p:grpSp>
        <p:nvGrpSpPr>
          <p:cNvPr name="Group 7" id="7"/>
          <p:cNvGrpSpPr/>
          <p:nvPr/>
        </p:nvGrpSpPr>
        <p:grpSpPr>
          <a:xfrm rot="0">
            <a:off x="-1362581" y="7719935"/>
            <a:ext cx="4062465" cy="4062465"/>
            <a:chOff x="0" y="0"/>
            <a:chExt cx="2286000" cy="2286000"/>
          </a:xfrm>
        </p:grpSpPr>
        <p:sp>
          <p:nvSpPr>
            <p:cNvPr name="Freeform 8" id="8"/>
            <p:cNvSpPr/>
            <p:nvPr/>
          </p:nvSpPr>
          <p:spPr>
            <a:xfrm flipH="false" flipV="false" rot="0">
              <a:off x="0" y="0"/>
              <a:ext cx="2286000" cy="2286000"/>
            </a:xfrm>
            <a:custGeom>
              <a:avLst/>
              <a:gdLst/>
              <a:ahLst/>
              <a:cxnLst/>
              <a:rect r="r" b="b" t="t" l="l"/>
              <a:pathLst>
                <a:path h="2286000" w="2286000">
                  <a:moveTo>
                    <a:pt x="1143000" y="0"/>
                  </a:moveTo>
                  <a:cubicBezTo>
                    <a:pt x="511739" y="0"/>
                    <a:pt x="0" y="511739"/>
                    <a:pt x="0" y="1143000"/>
                  </a:cubicBezTo>
                  <a:cubicBezTo>
                    <a:pt x="0" y="1774261"/>
                    <a:pt x="511739" y="2286000"/>
                    <a:pt x="1143000" y="2286000"/>
                  </a:cubicBezTo>
                  <a:cubicBezTo>
                    <a:pt x="1774261" y="2286000"/>
                    <a:pt x="2286000" y="1774261"/>
                    <a:pt x="2286000" y="1143000"/>
                  </a:cubicBezTo>
                  <a:cubicBezTo>
                    <a:pt x="2286000" y="511739"/>
                    <a:pt x="1774261" y="0"/>
                    <a:pt x="1143000" y="0"/>
                  </a:cubicBezTo>
                  <a:close/>
                </a:path>
              </a:pathLst>
            </a:custGeom>
            <a:solidFill>
              <a:srgbClr val="FF5400">
                <a:alpha val="7843"/>
              </a:srgbClr>
            </a:solidFill>
          </p:spPr>
        </p:sp>
      </p:grpSp>
      <p:grpSp>
        <p:nvGrpSpPr>
          <p:cNvPr name="Group 9" id="9"/>
          <p:cNvGrpSpPr/>
          <p:nvPr/>
        </p:nvGrpSpPr>
        <p:grpSpPr>
          <a:xfrm rot="2700000">
            <a:off x="10440105" y="9485780"/>
            <a:ext cx="1597916" cy="1597916"/>
            <a:chOff x="0" y="0"/>
            <a:chExt cx="444500" cy="444500"/>
          </a:xfrm>
        </p:grpSpPr>
        <p:sp>
          <p:nvSpPr>
            <p:cNvPr name="Freeform 10" id="10"/>
            <p:cNvSpPr/>
            <p:nvPr/>
          </p:nvSpPr>
          <p:spPr>
            <a:xfrm flipH="false" flipV="false" rot="0">
              <a:off x="0" y="0"/>
              <a:ext cx="444500" cy="444500"/>
            </a:xfrm>
            <a:custGeom>
              <a:avLst/>
              <a:gdLst/>
              <a:ahLst/>
              <a:cxnLst/>
              <a:rect r="r" b="b" t="t" l="l"/>
              <a:pathLst>
                <a:path h="444500" w="444500">
                  <a:moveTo>
                    <a:pt x="0" y="0"/>
                  </a:moveTo>
                  <a:lnTo>
                    <a:pt x="444500" y="0"/>
                  </a:lnTo>
                  <a:lnTo>
                    <a:pt x="444500" y="444500"/>
                  </a:lnTo>
                  <a:lnTo>
                    <a:pt x="0" y="444500"/>
                  </a:lnTo>
                  <a:close/>
                </a:path>
              </a:pathLst>
            </a:custGeom>
            <a:solidFill>
              <a:srgbClr val="FF5400">
                <a:alpha val="49804"/>
              </a:srgbClr>
            </a:solidFill>
          </p:spPr>
        </p:sp>
      </p:grpSp>
      <p:grpSp>
        <p:nvGrpSpPr>
          <p:cNvPr name="Group 11" id="11"/>
          <p:cNvGrpSpPr/>
          <p:nvPr/>
        </p:nvGrpSpPr>
        <p:grpSpPr>
          <a:xfrm rot="0">
            <a:off x="17145000" y="8187059"/>
            <a:ext cx="3128218" cy="3128218"/>
            <a:chOff x="0" y="0"/>
            <a:chExt cx="1143000" cy="1143000"/>
          </a:xfrm>
        </p:grpSpPr>
        <p:sp>
          <p:nvSpPr>
            <p:cNvPr name="Freeform 12" id="12"/>
            <p:cNvSpPr/>
            <p:nvPr/>
          </p:nvSpPr>
          <p:spPr>
            <a:xfrm flipH="false" flipV="false" rot="0">
              <a:off x="0" y="0"/>
              <a:ext cx="1143000" cy="1143000"/>
            </a:xfrm>
            <a:custGeom>
              <a:avLst/>
              <a:gdLst/>
              <a:ahLst/>
              <a:cxnLst/>
              <a:rect r="r" b="b" t="t" l="l"/>
              <a:pathLst>
                <a:path h="1143000" w="1143000">
                  <a:moveTo>
                    <a:pt x="571500" y="0"/>
                  </a:moveTo>
                  <a:cubicBezTo>
                    <a:pt x="255869" y="0"/>
                    <a:pt x="0" y="255869"/>
                    <a:pt x="0" y="571500"/>
                  </a:cubicBezTo>
                  <a:cubicBezTo>
                    <a:pt x="0" y="887131"/>
                    <a:pt x="255869" y="1143000"/>
                    <a:pt x="571500" y="1143000"/>
                  </a:cubicBezTo>
                  <a:cubicBezTo>
                    <a:pt x="887131" y="1143000"/>
                    <a:pt x="1143000" y="887131"/>
                    <a:pt x="1143000" y="571500"/>
                  </a:cubicBezTo>
                  <a:cubicBezTo>
                    <a:pt x="1143000" y="255869"/>
                    <a:pt x="887131" y="0"/>
                    <a:pt x="571500" y="0"/>
                  </a:cubicBezTo>
                  <a:close/>
                </a:path>
              </a:pathLst>
            </a:custGeom>
            <a:solidFill>
              <a:srgbClr val="FF8C42">
                <a:alpha val="24706"/>
              </a:srgbClr>
            </a:solidFill>
          </p:spPr>
        </p:sp>
      </p:grpSp>
      <p:grpSp>
        <p:nvGrpSpPr>
          <p:cNvPr name="Group 13" id="13"/>
          <p:cNvGrpSpPr/>
          <p:nvPr/>
        </p:nvGrpSpPr>
        <p:grpSpPr>
          <a:xfrm rot="0">
            <a:off x="17335500" y="2588442"/>
            <a:ext cx="2019300" cy="2019300"/>
            <a:chOff x="0" y="0"/>
            <a:chExt cx="698500" cy="698500"/>
          </a:xfrm>
        </p:grpSpPr>
        <p:sp>
          <p:nvSpPr>
            <p:cNvPr name="Freeform 14" id="14"/>
            <p:cNvSpPr/>
            <p:nvPr/>
          </p:nvSpPr>
          <p:spPr>
            <a:xfrm flipH="false" flipV="false" rot="0">
              <a:off x="0" y="0"/>
              <a:ext cx="698500" cy="698500"/>
            </a:xfrm>
            <a:custGeom>
              <a:avLst/>
              <a:gdLst/>
              <a:ahLst/>
              <a:cxnLst/>
              <a:rect r="r" b="b" t="t" l="l"/>
              <a:pathLst>
                <a:path h="698500" w="698500">
                  <a:moveTo>
                    <a:pt x="349250" y="0"/>
                  </a:moveTo>
                  <a:lnTo>
                    <a:pt x="698500" y="174625"/>
                  </a:lnTo>
                  <a:lnTo>
                    <a:pt x="698500" y="523875"/>
                  </a:lnTo>
                  <a:lnTo>
                    <a:pt x="349250" y="698500"/>
                  </a:lnTo>
                  <a:lnTo>
                    <a:pt x="0" y="523875"/>
                  </a:lnTo>
                  <a:lnTo>
                    <a:pt x="0" y="174625"/>
                  </a:lnTo>
                  <a:lnTo>
                    <a:pt x="349250" y="0"/>
                  </a:lnTo>
                  <a:close/>
                </a:path>
              </a:pathLst>
            </a:custGeom>
            <a:solidFill>
              <a:srgbClr val="FF5400">
                <a:alpha val="34902"/>
              </a:srgbClr>
            </a:solidFill>
          </p:spPr>
        </p:sp>
      </p:grpSp>
      <p:grpSp>
        <p:nvGrpSpPr>
          <p:cNvPr name="Group 15" id="15"/>
          <p:cNvGrpSpPr/>
          <p:nvPr/>
        </p:nvGrpSpPr>
        <p:grpSpPr>
          <a:xfrm rot="0">
            <a:off x="-1859939" y="4000117"/>
            <a:ext cx="2528591" cy="2528591"/>
            <a:chOff x="0" y="0"/>
            <a:chExt cx="254000" cy="254000"/>
          </a:xfrm>
        </p:grpSpPr>
        <p:sp>
          <p:nvSpPr>
            <p:cNvPr name="Freeform 16" id="16"/>
            <p:cNvSpPr/>
            <p:nvPr/>
          </p:nvSpPr>
          <p:spPr>
            <a:xfrm flipH="false" flipV="false" rot="0">
              <a:off x="0" y="0"/>
              <a:ext cx="254000" cy="254000"/>
            </a:xfrm>
            <a:custGeom>
              <a:avLst/>
              <a:gdLst/>
              <a:ahLst/>
              <a:cxnLst/>
              <a:rect r="r" b="b" t="t" l="l"/>
              <a:pathLst>
                <a:path h="254000" w="254000">
                  <a:moveTo>
                    <a:pt x="127000" y="0"/>
                  </a:moveTo>
                  <a:cubicBezTo>
                    <a:pt x="56860" y="0"/>
                    <a:pt x="0" y="56860"/>
                    <a:pt x="0" y="127000"/>
                  </a:cubicBezTo>
                  <a:cubicBezTo>
                    <a:pt x="0" y="197140"/>
                    <a:pt x="56860" y="254000"/>
                    <a:pt x="127000" y="254000"/>
                  </a:cubicBezTo>
                  <a:cubicBezTo>
                    <a:pt x="197140" y="254000"/>
                    <a:pt x="254000" y="197140"/>
                    <a:pt x="254000" y="127000"/>
                  </a:cubicBezTo>
                  <a:cubicBezTo>
                    <a:pt x="254000" y="56860"/>
                    <a:pt x="197140" y="0"/>
                    <a:pt x="127000" y="0"/>
                  </a:cubicBezTo>
                  <a:close/>
                </a:path>
              </a:pathLst>
            </a:custGeom>
            <a:solidFill>
              <a:srgbClr val="FF5400">
                <a:alpha val="60000"/>
              </a:srgbClr>
            </a:solidFill>
          </p:spPr>
        </p:sp>
      </p:grpSp>
      <p:sp>
        <p:nvSpPr>
          <p:cNvPr name="TextBox 17" id="17"/>
          <p:cNvSpPr txBox="true"/>
          <p:nvPr/>
        </p:nvSpPr>
        <p:spPr>
          <a:xfrm rot="0">
            <a:off x="266700" y="4695825"/>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Are affected by the platform's success in the market.</a:t>
            </a:r>
          </a:p>
        </p:txBody>
      </p:sp>
      <p:sp>
        <p:nvSpPr>
          <p:cNvPr name="TextBox 18" id="18"/>
          <p:cNvSpPr txBox="true"/>
          <p:nvPr/>
        </p:nvSpPr>
        <p:spPr>
          <a:xfrm rot="0">
            <a:off x="266700" y="7391400"/>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Analyze educational and career trends using platform data.</a:t>
            </a:r>
          </a:p>
        </p:txBody>
      </p:sp>
      <p:sp>
        <p:nvSpPr>
          <p:cNvPr name="TextBox 19" id="19"/>
          <p:cNvSpPr txBox="true"/>
          <p:nvPr/>
        </p:nvSpPr>
        <p:spPr>
          <a:xfrm rot="0">
            <a:off x="266700" y="3362325"/>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Gain value from the platform's growth and success.</a:t>
            </a:r>
          </a:p>
        </p:txBody>
      </p:sp>
      <p:sp>
        <p:nvSpPr>
          <p:cNvPr name="TextBox 20" id="20"/>
          <p:cNvSpPr txBox="true"/>
          <p:nvPr/>
        </p:nvSpPr>
        <p:spPr>
          <a:xfrm rot="0">
            <a:off x="266700" y="6010275"/>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Share experiences and help users make informed decisions.</a:t>
            </a:r>
          </a:p>
        </p:txBody>
      </p:sp>
      <p:sp>
        <p:nvSpPr>
          <p:cNvPr name="TextBox 21" id="21"/>
          <p:cNvSpPr txBox="true"/>
          <p:nvPr/>
        </p:nvSpPr>
        <p:spPr>
          <a:xfrm rot="0">
            <a:off x="266700" y="2057400"/>
            <a:ext cx="11505942" cy="501709"/>
          </a:xfrm>
          <a:prstGeom prst="rect">
            <a:avLst/>
          </a:prstGeom>
        </p:spPr>
        <p:txBody>
          <a:bodyPr anchor="t" rtlCol="false" tIns="0" lIns="0" bIns="0" rIns="0">
            <a:spAutoFit/>
          </a:bodyPr>
          <a:lstStyle/>
          <a:p>
            <a:pPr algn="l" marL="0" indent="0" lvl="0">
              <a:lnSpc>
                <a:spcPts val="3902"/>
              </a:lnSpc>
              <a:spcBef>
                <a:spcPct val="0"/>
              </a:spcBef>
            </a:pPr>
            <a:r>
              <a:rPr lang="en-US" sz="2787" strike="noStrike" u="none">
                <a:solidFill>
                  <a:srgbClr val="444444"/>
                </a:solidFill>
                <a:latin typeface="Poppins"/>
                <a:ea typeface="Poppins"/>
                <a:cs typeface="Poppins"/>
                <a:sym typeface="Poppins"/>
              </a:rPr>
              <a:t>Increase visibility and traffic for their opportunities.</a:t>
            </a:r>
          </a:p>
        </p:txBody>
      </p:sp>
      <p:sp>
        <p:nvSpPr>
          <p:cNvPr name="TextBox 22" id="22"/>
          <p:cNvSpPr txBox="true"/>
          <p:nvPr/>
        </p:nvSpPr>
        <p:spPr>
          <a:xfrm rot="0">
            <a:off x="7262363" y="347980"/>
            <a:ext cx="4762500" cy="514350"/>
          </a:xfrm>
          <a:prstGeom prst="rect">
            <a:avLst/>
          </a:prstGeom>
        </p:spPr>
        <p:txBody>
          <a:bodyPr anchor="t" rtlCol="false" tIns="0" lIns="0" bIns="0" rIns="0">
            <a:spAutoFit/>
          </a:bodyPr>
          <a:lstStyle/>
          <a:p>
            <a:pPr algn="ctr" marL="0" indent="0" lvl="0">
              <a:lnSpc>
                <a:spcPts val="3300"/>
              </a:lnSpc>
              <a:spcBef>
                <a:spcPct val="0"/>
              </a:spcBef>
            </a:pPr>
            <a:r>
              <a:rPr lang="en-US" sz="3000" strike="noStrike" u="none">
                <a:solidFill>
                  <a:srgbClr val="FF5400"/>
                </a:solidFill>
                <a:latin typeface="Agrandir"/>
                <a:ea typeface="Agrandir"/>
                <a:cs typeface="Agrandir"/>
                <a:sym typeface="Agrandir"/>
              </a:rPr>
              <a:t>Supporting Stakeholders</a:t>
            </a:r>
          </a:p>
        </p:txBody>
      </p:sp>
      <p:sp>
        <p:nvSpPr>
          <p:cNvPr name="TextBox 23" id="23"/>
          <p:cNvSpPr txBox="true"/>
          <p:nvPr/>
        </p:nvSpPr>
        <p:spPr>
          <a:xfrm rot="0">
            <a:off x="-388185" y="124460"/>
            <a:ext cx="8572500" cy="904240"/>
          </a:xfrm>
          <a:prstGeom prst="rect">
            <a:avLst/>
          </a:prstGeom>
        </p:spPr>
        <p:txBody>
          <a:bodyPr anchor="t" rtlCol="false" tIns="0" lIns="0" bIns="0" rIns="0">
            <a:spAutoFit/>
          </a:bodyPr>
          <a:lstStyle/>
          <a:p>
            <a:pPr algn="ctr" marL="0" indent="0" lvl="0">
              <a:lnSpc>
                <a:spcPts val="5719"/>
              </a:lnSpc>
              <a:spcBef>
                <a:spcPct val="0"/>
              </a:spcBef>
            </a:pPr>
            <a:r>
              <a:rPr lang="en-US" sz="5199" strike="noStrike" u="none">
                <a:solidFill>
                  <a:srgbClr val="111111"/>
                </a:solidFill>
                <a:latin typeface="Agrandir"/>
                <a:ea typeface="Agrandir"/>
                <a:cs typeface="Agrandir"/>
                <a:sym typeface="Agrandir"/>
              </a:rPr>
              <a:t>Stakeholder Analysis</a:t>
            </a:r>
          </a:p>
        </p:txBody>
      </p:sp>
      <p:sp>
        <p:nvSpPr>
          <p:cNvPr name="AutoShape 24" id="24"/>
          <p:cNvSpPr/>
          <p:nvPr/>
        </p:nvSpPr>
        <p:spPr>
          <a:xfrm>
            <a:off x="271210" y="1394420"/>
            <a:ext cx="590048" cy="0"/>
          </a:xfrm>
          <a:prstGeom prst="line">
            <a:avLst/>
          </a:prstGeom>
          <a:ln cap="rnd" w="47625">
            <a:solidFill>
              <a:srgbClr val="FF5400"/>
            </a:solidFill>
            <a:prstDash val="solid"/>
            <a:headEnd type="none" len="sm" w="sm"/>
            <a:tailEnd type="none" len="sm" w="sm"/>
          </a:ln>
        </p:spPr>
      </p:sp>
      <p:sp>
        <p:nvSpPr>
          <p:cNvPr name="TextBox 25" id="25"/>
          <p:cNvSpPr txBox="true"/>
          <p:nvPr/>
        </p:nvSpPr>
        <p:spPr>
          <a:xfrm rot="0">
            <a:off x="271210" y="1445755"/>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External Content Providers</a:t>
            </a:r>
          </a:p>
        </p:txBody>
      </p:sp>
      <p:sp>
        <p:nvSpPr>
          <p:cNvPr name="AutoShape 26" id="26"/>
          <p:cNvSpPr/>
          <p:nvPr/>
        </p:nvSpPr>
        <p:spPr>
          <a:xfrm>
            <a:off x="271210" y="5356910"/>
            <a:ext cx="590048" cy="0"/>
          </a:xfrm>
          <a:prstGeom prst="line">
            <a:avLst/>
          </a:prstGeom>
          <a:ln cap="rnd" w="47625">
            <a:solidFill>
              <a:srgbClr val="FF5400"/>
            </a:solidFill>
            <a:prstDash val="solid"/>
            <a:headEnd type="none" len="sm" w="sm"/>
            <a:tailEnd type="none" len="sm" w="sm"/>
          </a:ln>
        </p:spPr>
      </p:sp>
      <p:sp>
        <p:nvSpPr>
          <p:cNvPr name="TextBox 27" id="27"/>
          <p:cNvSpPr txBox="true"/>
          <p:nvPr/>
        </p:nvSpPr>
        <p:spPr>
          <a:xfrm rot="0">
            <a:off x="271210" y="5408245"/>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Alumni &amp; Experienced Users</a:t>
            </a:r>
          </a:p>
        </p:txBody>
      </p:sp>
      <p:sp>
        <p:nvSpPr>
          <p:cNvPr name="AutoShape 28" id="28"/>
          <p:cNvSpPr/>
          <p:nvPr/>
        </p:nvSpPr>
        <p:spPr>
          <a:xfrm>
            <a:off x="271210" y="2709262"/>
            <a:ext cx="590048" cy="0"/>
          </a:xfrm>
          <a:prstGeom prst="line">
            <a:avLst/>
          </a:prstGeom>
          <a:ln cap="rnd" w="47625">
            <a:solidFill>
              <a:srgbClr val="FF5400"/>
            </a:solidFill>
            <a:prstDash val="solid"/>
            <a:headEnd type="none" len="sm" w="sm"/>
            <a:tailEnd type="none" len="sm" w="sm"/>
          </a:ln>
        </p:spPr>
      </p:sp>
      <p:sp>
        <p:nvSpPr>
          <p:cNvPr name="TextBox 29" id="29"/>
          <p:cNvSpPr txBox="true"/>
          <p:nvPr/>
        </p:nvSpPr>
        <p:spPr>
          <a:xfrm rot="0">
            <a:off x="271210" y="2760596"/>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Project Sponsors / Investors</a:t>
            </a:r>
          </a:p>
        </p:txBody>
      </p:sp>
      <p:sp>
        <p:nvSpPr>
          <p:cNvPr name="AutoShape 30" id="30"/>
          <p:cNvSpPr/>
          <p:nvPr/>
        </p:nvSpPr>
        <p:spPr>
          <a:xfrm>
            <a:off x="271210" y="6743405"/>
            <a:ext cx="590048" cy="0"/>
          </a:xfrm>
          <a:prstGeom prst="line">
            <a:avLst/>
          </a:prstGeom>
          <a:ln cap="rnd" w="47625">
            <a:solidFill>
              <a:srgbClr val="FF5400"/>
            </a:solidFill>
            <a:prstDash val="solid"/>
            <a:headEnd type="none" len="sm" w="sm"/>
            <a:tailEnd type="none" len="sm" w="sm"/>
          </a:ln>
        </p:spPr>
      </p:sp>
      <p:sp>
        <p:nvSpPr>
          <p:cNvPr name="TextBox 31" id="31"/>
          <p:cNvSpPr txBox="true"/>
          <p:nvPr/>
        </p:nvSpPr>
        <p:spPr>
          <a:xfrm rot="0">
            <a:off x="271210" y="6794740"/>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Data / Statistic Organizations</a:t>
            </a:r>
          </a:p>
        </p:txBody>
      </p:sp>
      <p:sp>
        <p:nvSpPr>
          <p:cNvPr name="AutoShape 32" id="32"/>
          <p:cNvSpPr/>
          <p:nvPr/>
        </p:nvSpPr>
        <p:spPr>
          <a:xfrm>
            <a:off x="271210" y="4047196"/>
            <a:ext cx="590048" cy="0"/>
          </a:xfrm>
          <a:prstGeom prst="line">
            <a:avLst/>
          </a:prstGeom>
          <a:ln cap="rnd" w="47625">
            <a:solidFill>
              <a:srgbClr val="FF5400"/>
            </a:solidFill>
            <a:prstDash val="solid"/>
            <a:headEnd type="none" len="sm" w="sm"/>
            <a:tailEnd type="none" len="sm" w="sm"/>
          </a:ln>
        </p:spPr>
      </p:sp>
      <p:sp>
        <p:nvSpPr>
          <p:cNvPr name="TextBox 33" id="33"/>
          <p:cNvSpPr txBox="true"/>
          <p:nvPr/>
        </p:nvSpPr>
        <p:spPr>
          <a:xfrm rot="0">
            <a:off x="271210" y="4098531"/>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Rival / Competitive Businesses</a:t>
            </a:r>
          </a:p>
        </p:txBody>
      </p:sp>
      <p:sp>
        <p:nvSpPr>
          <p:cNvPr name="AutoShape 34" id="34"/>
          <p:cNvSpPr/>
          <p:nvPr/>
        </p:nvSpPr>
        <p:spPr>
          <a:xfrm>
            <a:off x="271210" y="8386303"/>
            <a:ext cx="590048" cy="0"/>
          </a:xfrm>
          <a:prstGeom prst="line">
            <a:avLst/>
          </a:prstGeom>
          <a:ln cap="rnd" w="47625">
            <a:solidFill>
              <a:srgbClr val="FF5400"/>
            </a:solidFill>
            <a:prstDash val="solid"/>
            <a:headEnd type="none" len="sm" w="sm"/>
            <a:tailEnd type="none" len="sm" w="sm"/>
          </a:ln>
        </p:spPr>
      </p:sp>
      <p:sp>
        <p:nvSpPr>
          <p:cNvPr name="TextBox 35" id="35"/>
          <p:cNvSpPr txBox="true"/>
          <p:nvPr/>
        </p:nvSpPr>
        <p:spPr>
          <a:xfrm rot="0">
            <a:off x="271210" y="8437638"/>
            <a:ext cx="11505942" cy="624271"/>
          </a:xfrm>
          <a:prstGeom prst="rect">
            <a:avLst/>
          </a:prstGeom>
        </p:spPr>
        <p:txBody>
          <a:bodyPr anchor="t" rtlCol="false" tIns="0" lIns="0" bIns="0" rIns="0">
            <a:spAutoFit/>
          </a:bodyPr>
          <a:lstStyle/>
          <a:p>
            <a:pPr algn="l" marL="0" indent="0" lvl="0">
              <a:lnSpc>
                <a:spcPts val="4831"/>
              </a:lnSpc>
              <a:spcBef>
                <a:spcPct val="0"/>
              </a:spcBef>
            </a:pPr>
            <a:r>
              <a:rPr lang="en-US" b="true" sz="3716" strike="noStrike" u="none">
                <a:solidFill>
                  <a:srgbClr val="111111"/>
                </a:solidFill>
                <a:latin typeface="Poppins Bold"/>
                <a:ea typeface="Poppins Bold"/>
                <a:cs typeface="Poppins Bold"/>
                <a:sym typeface="Poppins Bold"/>
              </a:rPr>
              <a:t>Advertisers / Marketing Firms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145000" y="476250"/>
            <a:ext cx="381000" cy="381000"/>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29804"/>
              </a:srgbClr>
            </a:solidFill>
          </p:spPr>
        </p:sp>
      </p:grpSp>
      <p:grpSp>
        <p:nvGrpSpPr>
          <p:cNvPr name="Group 4" id="4"/>
          <p:cNvGrpSpPr/>
          <p:nvPr/>
        </p:nvGrpSpPr>
        <p:grpSpPr>
          <a:xfrm rot="0">
            <a:off x="16668750" y="8572500"/>
            <a:ext cx="1428750" cy="1428750"/>
            <a:chOff x="0" y="0"/>
            <a:chExt cx="1905000" cy="1905000"/>
          </a:xfrm>
        </p:grpSpPr>
        <p:sp>
          <p:nvSpPr>
            <p:cNvPr name="Freeform 5" id="5"/>
            <p:cNvSpPr/>
            <p:nvPr/>
          </p:nvSpPr>
          <p:spPr>
            <a:xfrm flipH="false" flipV="false" rot="0">
              <a:off x="0" y="0"/>
              <a:ext cx="1905000" cy="1905000"/>
            </a:xfrm>
            <a:custGeom>
              <a:avLst/>
              <a:gdLst/>
              <a:ahLst/>
              <a:cxnLst/>
              <a:rect r="r" b="b" t="t" l="l"/>
              <a:pathLst>
                <a:path h="1905000" w="1905000">
                  <a:moveTo>
                    <a:pt x="952500" y="0"/>
                  </a:moveTo>
                  <a:cubicBezTo>
                    <a:pt x="426449" y="0"/>
                    <a:pt x="0" y="426449"/>
                    <a:pt x="0" y="952500"/>
                  </a:cubicBezTo>
                  <a:cubicBezTo>
                    <a:pt x="0" y="1478551"/>
                    <a:pt x="426449" y="1905000"/>
                    <a:pt x="952500" y="1905000"/>
                  </a:cubicBezTo>
                  <a:cubicBezTo>
                    <a:pt x="1478551" y="1905000"/>
                    <a:pt x="1905000" y="1478551"/>
                    <a:pt x="1905000" y="952500"/>
                  </a:cubicBezTo>
                  <a:cubicBezTo>
                    <a:pt x="1905000" y="426449"/>
                    <a:pt x="1478551" y="0"/>
                    <a:pt x="952500" y="0"/>
                  </a:cubicBezTo>
                  <a:close/>
                </a:path>
              </a:pathLst>
            </a:custGeom>
            <a:solidFill>
              <a:srgbClr val="FF5400">
                <a:alpha val="7843"/>
              </a:srgbClr>
            </a:solidFill>
          </p:spPr>
        </p:sp>
      </p:grpSp>
      <p:grpSp>
        <p:nvGrpSpPr>
          <p:cNvPr name="Group 6" id="6"/>
          <p:cNvGrpSpPr/>
          <p:nvPr/>
        </p:nvGrpSpPr>
        <p:grpSpPr>
          <a:xfrm rot="0">
            <a:off x="-762000" y="-762000"/>
            <a:ext cx="1905000" cy="1905000"/>
            <a:chOff x="0" y="0"/>
            <a:chExt cx="2540000" cy="2540000"/>
          </a:xfrm>
        </p:grpSpPr>
        <p:sp>
          <p:nvSpPr>
            <p:cNvPr name="Freeform 7" id="7"/>
            <p:cNvSpPr/>
            <p:nvPr/>
          </p:nvSpPr>
          <p:spPr>
            <a:xfrm flipH="false" flipV="false" rot="0">
              <a:off x="0" y="0"/>
              <a:ext cx="2540000" cy="2540000"/>
            </a:xfrm>
            <a:custGeom>
              <a:avLst/>
              <a:gdLst/>
              <a:ahLst/>
              <a:cxnLst/>
              <a:rect r="r" b="b" t="t" l="l"/>
              <a:pathLst>
                <a:path h="2540000" w="2540000">
                  <a:moveTo>
                    <a:pt x="1270000" y="0"/>
                  </a:moveTo>
                  <a:cubicBezTo>
                    <a:pt x="568598" y="0"/>
                    <a:pt x="0" y="568598"/>
                    <a:pt x="0" y="1270000"/>
                  </a:cubicBezTo>
                  <a:cubicBezTo>
                    <a:pt x="0" y="1971402"/>
                    <a:pt x="568598" y="2540000"/>
                    <a:pt x="1270000" y="2540000"/>
                  </a:cubicBezTo>
                  <a:cubicBezTo>
                    <a:pt x="1971402" y="2540000"/>
                    <a:pt x="2540000" y="1971402"/>
                    <a:pt x="2540000" y="1270000"/>
                  </a:cubicBezTo>
                  <a:cubicBezTo>
                    <a:pt x="2540000" y="568598"/>
                    <a:pt x="1971402" y="0"/>
                    <a:pt x="1270000" y="0"/>
                  </a:cubicBezTo>
                  <a:close/>
                </a:path>
              </a:pathLst>
            </a:custGeom>
            <a:solidFill>
              <a:srgbClr val="FF5400">
                <a:alpha val="7843"/>
              </a:srgbClr>
            </a:solidFill>
          </p:spPr>
        </p:sp>
      </p:grpSp>
      <p:sp>
        <p:nvSpPr>
          <p:cNvPr name="TextBox 8" id="8"/>
          <p:cNvSpPr txBox="true"/>
          <p:nvPr/>
        </p:nvSpPr>
        <p:spPr>
          <a:xfrm rot="0">
            <a:off x="12385383" y="5875663"/>
            <a:ext cx="4528732" cy="749759"/>
          </a:xfrm>
          <a:prstGeom prst="rect">
            <a:avLst/>
          </a:prstGeom>
        </p:spPr>
        <p:txBody>
          <a:bodyPr anchor="t" rtlCol="false" tIns="0" lIns="0" bIns="0" rIns="0">
            <a:spAutoFit/>
          </a:bodyPr>
          <a:lstStyle/>
          <a:p>
            <a:pPr algn="ctr" marL="0" indent="0" lvl="0">
              <a:lnSpc>
                <a:spcPts val="2912"/>
              </a:lnSpc>
              <a:spcBef>
                <a:spcPct val="0"/>
              </a:spcBef>
            </a:pPr>
            <a:r>
              <a:rPr lang="en-US" sz="2080" strike="noStrike" u="none">
                <a:solidFill>
                  <a:srgbClr val="555555"/>
                </a:solidFill>
                <a:latin typeface="Poppins"/>
                <a:ea typeface="Poppins"/>
                <a:cs typeface="Poppins"/>
                <a:sym typeface="Poppins"/>
              </a:rPr>
              <a:t>Develops and implements the platform features</a:t>
            </a:r>
          </a:p>
        </p:txBody>
      </p:sp>
      <p:sp>
        <p:nvSpPr>
          <p:cNvPr name="TextBox 9" id="9"/>
          <p:cNvSpPr txBox="true"/>
          <p:nvPr/>
        </p:nvSpPr>
        <p:spPr>
          <a:xfrm rot="0">
            <a:off x="7007514" y="5875663"/>
            <a:ext cx="4528732" cy="749759"/>
          </a:xfrm>
          <a:prstGeom prst="rect">
            <a:avLst/>
          </a:prstGeom>
        </p:spPr>
        <p:txBody>
          <a:bodyPr anchor="t" rtlCol="false" tIns="0" lIns="0" bIns="0" rIns="0">
            <a:spAutoFit/>
          </a:bodyPr>
          <a:lstStyle/>
          <a:p>
            <a:pPr algn="ctr" marL="0" indent="0" lvl="0">
              <a:lnSpc>
                <a:spcPts val="2912"/>
              </a:lnSpc>
              <a:spcBef>
                <a:spcPct val="0"/>
              </a:spcBef>
            </a:pPr>
            <a:r>
              <a:rPr lang="en-US" sz="2080" strike="noStrike" u="none">
                <a:solidFill>
                  <a:srgbClr val="555555"/>
                </a:solidFill>
                <a:latin typeface="Poppins"/>
                <a:ea typeface="Poppins"/>
                <a:cs typeface="Poppins"/>
                <a:sym typeface="Poppins"/>
              </a:rPr>
              <a:t>Supports the team and ensures the Scrum process is followed</a:t>
            </a:r>
          </a:p>
        </p:txBody>
      </p:sp>
      <p:sp>
        <p:nvSpPr>
          <p:cNvPr name="TextBox 10" id="10"/>
          <p:cNvSpPr txBox="true"/>
          <p:nvPr/>
        </p:nvSpPr>
        <p:spPr>
          <a:xfrm rot="0">
            <a:off x="1629645" y="5875663"/>
            <a:ext cx="4528732" cy="749759"/>
          </a:xfrm>
          <a:prstGeom prst="rect">
            <a:avLst/>
          </a:prstGeom>
        </p:spPr>
        <p:txBody>
          <a:bodyPr anchor="t" rtlCol="false" tIns="0" lIns="0" bIns="0" rIns="0">
            <a:spAutoFit/>
          </a:bodyPr>
          <a:lstStyle/>
          <a:p>
            <a:pPr algn="ctr" marL="0" indent="0" lvl="0">
              <a:lnSpc>
                <a:spcPts val="2912"/>
              </a:lnSpc>
              <a:spcBef>
                <a:spcPct val="0"/>
              </a:spcBef>
            </a:pPr>
            <a:r>
              <a:rPr lang="en-US" sz="2080" strike="noStrike" u="none">
                <a:solidFill>
                  <a:srgbClr val="555555"/>
                </a:solidFill>
                <a:latin typeface="Poppins"/>
                <a:ea typeface="Poppins"/>
                <a:cs typeface="Poppins"/>
                <a:sym typeface="Poppins"/>
              </a:rPr>
              <a:t>Defines priorities and manages requirements</a:t>
            </a:r>
          </a:p>
        </p:txBody>
      </p:sp>
      <p:sp>
        <p:nvSpPr>
          <p:cNvPr name="TextBox 11" id="11"/>
          <p:cNvSpPr txBox="true"/>
          <p:nvPr/>
        </p:nvSpPr>
        <p:spPr>
          <a:xfrm rot="0">
            <a:off x="2476500" y="652443"/>
            <a:ext cx="13335000" cy="967232"/>
          </a:xfrm>
          <a:prstGeom prst="rect">
            <a:avLst/>
          </a:prstGeom>
        </p:spPr>
        <p:txBody>
          <a:bodyPr anchor="t" rtlCol="false" tIns="0" lIns="0" bIns="0" rIns="0">
            <a:spAutoFit/>
          </a:bodyPr>
          <a:lstStyle/>
          <a:p>
            <a:pPr algn="ctr" marL="0" indent="0" lvl="0">
              <a:lnSpc>
                <a:spcPts val="6226"/>
              </a:lnSpc>
              <a:spcBef>
                <a:spcPct val="0"/>
              </a:spcBef>
            </a:pPr>
            <a:r>
              <a:rPr lang="en-US" sz="5660" strike="noStrike" u="none">
                <a:solidFill>
                  <a:srgbClr val="111111"/>
                </a:solidFill>
                <a:latin typeface="Agrandir"/>
                <a:ea typeface="Agrandir"/>
                <a:cs typeface="Agrandir"/>
                <a:sym typeface="Agrandir"/>
              </a:rPr>
              <a:t>SOFTWARE PROCESS MODEL</a:t>
            </a:r>
          </a:p>
        </p:txBody>
      </p:sp>
      <p:sp>
        <p:nvSpPr>
          <p:cNvPr name="TextBox 12" id="12"/>
          <p:cNvSpPr txBox="true"/>
          <p:nvPr/>
        </p:nvSpPr>
        <p:spPr>
          <a:xfrm rot="0">
            <a:off x="7239000" y="1733550"/>
            <a:ext cx="3810000" cy="742058"/>
          </a:xfrm>
          <a:prstGeom prst="rect">
            <a:avLst/>
          </a:prstGeom>
        </p:spPr>
        <p:txBody>
          <a:bodyPr anchor="t" rtlCol="false" tIns="0" lIns="0" bIns="0" rIns="0">
            <a:spAutoFit/>
          </a:bodyPr>
          <a:lstStyle/>
          <a:p>
            <a:pPr algn="ctr" marL="0" indent="0" lvl="0">
              <a:lnSpc>
                <a:spcPts val="4872"/>
              </a:lnSpc>
              <a:spcBef>
                <a:spcPct val="0"/>
              </a:spcBef>
            </a:pPr>
            <a:r>
              <a:rPr lang="en-US" sz="4429" strike="noStrike" u="none">
                <a:solidFill>
                  <a:srgbClr val="FF5400"/>
                </a:solidFill>
                <a:latin typeface="Agrandir"/>
                <a:ea typeface="Agrandir"/>
                <a:cs typeface="Agrandir"/>
                <a:sym typeface="Agrandir"/>
              </a:rPr>
              <a:t>SCRUM</a:t>
            </a:r>
          </a:p>
        </p:txBody>
      </p:sp>
      <p:sp>
        <p:nvSpPr>
          <p:cNvPr name="AutoShape 13" id="13"/>
          <p:cNvSpPr/>
          <p:nvPr/>
        </p:nvSpPr>
        <p:spPr>
          <a:xfrm>
            <a:off x="7239000" y="2571750"/>
            <a:ext cx="3810000" cy="0"/>
          </a:xfrm>
          <a:prstGeom prst="line">
            <a:avLst/>
          </a:prstGeom>
          <a:ln cap="rnd" w="28575">
            <a:solidFill>
              <a:srgbClr val="FF5400"/>
            </a:solidFill>
            <a:prstDash val="solid"/>
            <a:headEnd type="none" len="sm" w="sm"/>
            <a:tailEnd type="none" len="sm" w="sm"/>
          </a:ln>
        </p:spPr>
      </p:sp>
      <p:sp>
        <p:nvSpPr>
          <p:cNvPr name="TextBox 14" id="14"/>
          <p:cNvSpPr txBox="true"/>
          <p:nvPr/>
        </p:nvSpPr>
        <p:spPr>
          <a:xfrm rot="0">
            <a:off x="1629645" y="2781266"/>
            <a:ext cx="15327980" cy="1447834"/>
          </a:xfrm>
          <a:prstGeom prst="rect">
            <a:avLst/>
          </a:prstGeom>
        </p:spPr>
        <p:txBody>
          <a:bodyPr anchor="t" rtlCol="false" tIns="0" lIns="0" bIns="0" rIns="0">
            <a:spAutoFit/>
          </a:bodyPr>
          <a:lstStyle/>
          <a:p>
            <a:pPr algn="ctr" marL="0" indent="0" lvl="0">
              <a:lnSpc>
                <a:spcPts val="3862"/>
              </a:lnSpc>
              <a:spcBef>
                <a:spcPct val="0"/>
              </a:spcBef>
            </a:pPr>
            <a:r>
              <a:rPr lang="en-US" sz="2413" strike="noStrike" u="none">
                <a:solidFill>
                  <a:srgbClr val="333333"/>
                </a:solidFill>
                <a:latin typeface="Poppins"/>
                <a:ea typeface="Poppins"/>
                <a:cs typeface="Poppins"/>
                <a:sym typeface="Poppins"/>
              </a:rPr>
              <a:t>Scrum is an agile project management framework that focuses on collaboration, flexibility, and continuous improvement throughout the development process. In our project, Scrum helps the team manage tasks efficiently by dividing the work into sprints and delivering features step by step.</a:t>
            </a:r>
          </a:p>
        </p:txBody>
      </p:sp>
      <p:grpSp>
        <p:nvGrpSpPr>
          <p:cNvPr name="Group 15" id="15"/>
          <p:cNvGrpSpPr/>
          <p:nvPr/>
        </p:nvGrpSpPr>
        <p:grpSpPr>
          <a:xfrm rot="0">
            <a:off x="3469443" y="4314825"/>
            <a:ext cx="849137" cy="849137"/>
            <a:chOff x="0" y="0"/>
            <a:chExt cx="762000" cy="762000"/>
          </a:xfrm>
        </p:grpSpPr>
        <p:sp>
          <p:nvSpPr>
            <p:cNvPr name="Freeform 16" id="16"/>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F5400">
                <a:alpha val="80000"/>
              </a:srgbClr>
            </a:solidFill>
          </p:spPr>
        </p:sp>
      </p:grpSp>
      <p:sp>
        <p:nvSpPr>
          <p:cNvPr name="TextBox 17" id="17"/>
          <p:cNvSpPr txBox="true"/>
          <p:nvPr/>
        </p:nvSpPr>
        <p:spPr>
          <a:xfrm rot="0">
            <a:off x="1629645" y="5399383"/>
            <a:ext cx="4528732" cy="491063"/>
          </a:xfrm>
          <a:prstGeom prst="rect">
            <a:avLst/>
          </a:prstGeom>
        </p:spPr>
        <p:txBody>
          <a:bodyPr anchor="t" rtlCol="false" tIns="0" lIns="0" bIns="0" rIns="0">
            <a:spAutoFit/>
          </a:bodyPr>
          <a:lstStyle/>
          <a:p>
            <a:pPr algn="ctr" marL="0" indent="0" lvl="0">
              <a:lnSpc>
                <a:spcPts val="3863"/>
              </a:lnSpc>
              <a:spcBef>
                <a:spcPct val="0"/>
              </a:spcBef>
            </a:pPr>
            <a:r>
              <a:rPr lang="en-US" b="true" sz="2971" strike="noStrike" u="none">
                <a:solidFill>
                  <a:srgbClr val="111111"/>
                </a:solidFill>
                <a:latin typeface="Poppins Bold"/>
                <a:ea typeface="Poppins Bold"/>
                <a:cs typeface="Poppins Bold"/>
                <a:sym typeface="Poppins Bold"/>
              </a:rPr>
              <a:t>Product Owner</a:t>
            </a:r>
          </a:p>
        </p:txBody>
      </p:sp>
      <p:grpSp>
        <p:nvGrpSpPr>
          <p:cNvPr name="Group 18" id="18"/>
          <p:cNvGrpSpPr/>
          <p:nvPr/>
        </p:nvGrpSpPr>
        <p:grpSpPr>
          <a:xfrm rot="0">
            <a:off x="8847312" y="4314825"/>
            <a:ext cx="849137" cy="849137"/>
            <a:chOff x="0" y="0"/>
            <a:chExt cx="762000" cy="762000"/>
          </a:xfrm>
        </p:grpSpPr>
        <p:sp>
          <p:nvSpPr>
            <p:cNvPr name="Freeform 19" id="19"/>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F5400">
                <a:alpha val="80000"/>
              </a:srgbClr>
            </a:solidFill>
          </p:spPr>
        </p:sp>
      </p:grpSp>
      <p:sp>
        <p:nvSpPr>
          <p:cNvPr name="TextBox 20" id="20"/>
          <p:cNvSpPr txBox="true"/>
          <p:nvPr/>
        </p:nvSpPr>
        <p:spPr>
          <a:xfrm rot="0">
            <a:off x="7007514" y="5399383"/>
            <a:ext cx="4528732" cy="491063"/>
          </a:xfrm>
          <a:prstGeom prst="rect">
            <a:avLst/>
          </a:prstGeom>
        </p:spPr>
        <p:txBody>
          <a:bodyPr anchor="t" rtlCol="false" tIns="0" lIns="0" bIns="0" rIns="0">
            <a:spAutoFit/>
          </a:bodyPr>
          <a:lstStyle/>
          <a:p>
            <a:pPr algn="ctr" marL="0" indent="0" lvl="0">
              <a:lnSpc>
                <a:spcPts val="3863"/>
              </a:lnSpc>
              <a:spcBef>
                <a:spcPct val="0"/>
              </a:spcBef>
            </a:pPr>
            <a:r>
              <a:rPr lang="en-US" b="true" sz="2971" strike="noStrike" u="none">
                <a:solidFill>
                  <a:srgbClr val="111111"/>
                </a:solidFill>
                <a:latin typeface="Poppins Bold"/>
                <a:ea typeface="Poppins Bold"/>
                <a:cs typeface="Poppins Bold"/>
                <a:sym typeface="Poppins Bold"/>
              </a:rPr>
              <a:t>Scrum Master</a:t>
            </a:r>
          </a:p>
        </p:txBody>
      </p:sp>
      <p:grpSp>
        <p:nvGrpSpPr>
          <p:cNvPr name="Group 21" id="21"/>
          <p:cNvGrpSpPr/>
          <p:nvPr/>
        </p:nvGrpSpPr>
        <p:grpSpPr>
          <a:xfrm rot="0">
            <a:off x="14225180" y="4314825"/>
            <a:ext cx="849137" cy="849137"/>
            <a:chOff x="0" y="0"/>
            <a:chExt cx="762000" cy="762000"/>
          </a:xfrm>
        </p:grpSpPr>
        <p:sp>
          <p:nvSpPr>
            <p:cNvPr name="Freeform 22" id="22"/>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F5400">
                <a:alpha val="80000"/>
              </a:srgbClr>
            </a:solidFill>
          </p:spPr>
        </p:sp>
      </p:grpSp>
      <p:sp>
        <p:nvSpPr>
          <p:cNvPr name="TextBox 23" id="23"/>
          <p:cNvSpPr txBox="true"/>
          <p:nvPr/>
        </p:nvSpPr>
        <p:spPr>
          <a:xfrm rot="0">
            <a:off x="12385383" y="5399383"/>
            <a:ext cx="4528732" cy="491063"/>
          </a:xfrm>
          <a:prstGeom prst="rect">
            <a:avLst/>
          </a:prstGeom>
        </p:spPr>
        <p:txBody>
          <a:bodyPr anchor="t" rtlCol="false" tIns="0" lIns="0" bIns="0" rIns="0">
            <a:spAutoFit/>
          </a:bodyPr>
          <a:lstStyle/>
          <a:p>
            <a:pPr algn="ctr" marL="0" indent="0" lvl="0">
              <a:lnSpc>
                <a:spcPts val="3863"/>
              </a:lnSpc>
              <a:spcBef>
                <a:spcPct val="0"/>
              </a:spcBef>
            </a:pPr>
            <a:r>
              <a:rPr lang="en-US" b="true" sz="2971" strike="noStrike" u="none">
                <a:solidFill>
                  <a:srgbClr val="111111"/>
                </a:solidFill>
                <a:latin typeface="Poppins Bold"/>
                <a:ea typeface="Poppins Bold"/>
                <a:cs typeface="Poppins Bold"/>
                <a:sym typeface="Poppins Bold"/>
              </a:rPr>
              <a:t>Development Team</a:t>
            </a:r>
          </a:p>
        </p:txBody>
      </p:sp>
      <p:sp>
        <p:nvSpPr>
          <p:cNvPr name="AutoShape 24" id="24"/>
          <p:cNvSpPr/>
          <p:nvPr/>
        </p:nvSpPr>
        <p:spPr>
          <a:xfrm>
            <a:off x="6504043" y="6639709"/>
            <a:ext cx="5660915" cy="0"/>
          </a:xfrm>
          <a:prstGeom prst="line">
            <a:avLst/>
          </a:prstGeom>
          <a:ln cap="rnd" w="28575">
            <a:solidFill>
              <a:srgbClr val="FF5400"/>
            </a:solidFill>
            <a:prstDash val="solid"/>
            <a:headEnd type="none" len="sm" w="sm"/>
            <a:tailEnd type="none" len="sm" w="sm"/>
          </a:ln>
        </p:spPr>
      </p:sp>
      <p:sp>
        <p:nvSpPr>
          <p:cNvPr name="TextBox 25" id="25"/>
          <p:cNvSpPr txBox="true"/>
          <p:nvPr/>
        </p:nvSpPr>
        <p:spPr>
          <a:xfrm rot="0">
            <a:off x="6030497" y="6672405"/>
            <a:ext cx="6227006" cy="568502"/>
          </a:xfrm>
          <a:prstGeom prst="rect">
            <a:avLst/>
          </a:prstGeom>
        </p:spPr>
        <p:txBody>
          <a:bodyPr anchor="t" rtlCol="false" tIns="0" lIns="0" bIns="0" rIns="0">
            <a:spAutoFit/>
          </a:bodyPr>
          <a:lstStyle/>
          <a:p>
            <a:pPr algn="ctr" marL="0" indent="0" lvl="0">
              <a:lnSpc>
                <a:spcPts val="3765"/>
              </a:lnSpc>
              <a:spcBef>
                <a:spcPct val="0"/>
              </a:spcBef>
            </a:pPr>
            <a:r>
              <a:rPr lang="en-US" sz="3138" strike="noStrike" u="none">
                <a:solidFill>
                  <a:srgbClr val="FF5400"/>
                </a:solidFill>
                <a:latin typeface="Agrandir"/>
                <a:ea typeface="Agrandir"/>
                <a:cs typeface="Agrandir"/>
                <a:sym typeface="Agrandir"/>
              </a:rPr>
              <a:t>Scrum Practices</a:t>
            </a:r>
          </a:p>
        </p:txBody>
      </p:sp>
      <p:grpSp>
        <p:nvGrpSpPr>
          <p:cNvPr name="Group 26" id="26"/>
          <p:cNvGrpSpPr/>
          <p:nvPr/>
        </p:nvGrpSpPr>
        <p:grpSpPr>
          <a:xfrm rot="0">
            <a:off x="802443" y="7240908"/>
            <a:ext cx="3735300" cy="667018"/>
            <a:chOff x="0" y="0"/>
            <a:chExt cx="3556000" cy="635000"/>
          </a:xfrm>
        </p:grpSpPr>
        <p:sp>
          <p:nvSpPr>
            <p:cNvPr name="Freeform 27" id="27"/>
            <p:cNvSpPr/>
            <p:nvPr/>
          </p:nvSpPr>
          <p:spPr>
            <a:xfrm flipH="false" flipV="false" rot="0">
              <a:off x="0" y="0"/>
              <a:ext cx="3556000" cy="635000"/>
            </a:xfrm>
            <a:custGeom>
              <a:avLst/>
              <a:gdLst/>
              <a:ahLst/>
              <a:cxnLst/>
              <a:rect r="r" b="b" t="t" l="l"/>
              <a:pathLst>
                <a:path h="635000" w="3556000">
                  <a:moveTo>
                    <a:pt x="63500" y="0"/>
                  </a:moveTo>
                  <a:lnTo>
                    <a:pt x="3492500" y="0"/>
                  </a:lnTo>
                  <a:cubicBezTo>
                    <a:pt x="3527570" y="0"/>
                    <a:pt x="3556000" y="28430"/>
                    <a:pt x="3556000" y="63500"/>
                  </a:cubicBezTo>
                  <a:lnTo>
                    <a:pt x="3556000" y="571500"/>
                  </a:lnTo>
                  <a:cubicBezTo>
                    <a:pt x="3556000" y="606570"/>
                    <a:pt x="3527570" y="635000"/>
                    <a:pt x="3492500" y="635000"/>
                  </a:cubicBezTo>
                  <a:lnTo>
                    <a:pt x="63500" y="635000"/>
                  </a:lnTo>
                  <a:cubicBezTo>
                    <a:pt x="28430" y="635000"/>
                    <a:pt x="0" y="606570"/>
                    <a:pt x="0" y="571500"/>
                  </a:cubicBezTo>
                  <a:lnTo>
                    <a:pt x="0" y="63500"/>
                  </a:lnTo>
                  <a:cubicBezTo>
                    <a:pt x="0" y="28430"/>
                    <a:pt x="28430" y="0"/>
                    <a:pt x="63500" y="0"/>
                  </a:cubicBezTo>
                  <a:close/>
                </a:path>
              </a:pathLst>
            </a:custGeom>
            <a:solidFill>
              <a:srgbClr val="FF5400">
                <a:alpha val="14902"/>
              </a:srgbClr>
            </a:solidFill>
          </p:spPr>
        </p:sp>
      </p:grpSp>
      <p:sp>
        <p:nvSpPr>
          <p:cNvPr name="TextBox 28" id="28"/>
          <p:cNvSpPr txBox="true"/>
          <p:nvPr/>
        </p:nvSpPr>
        <p:spPr>
          <a:xfrm rot="0">
            <a:off x="802443" y="7381942"/>
            <a:ext cx="3735300" cy="352559"/>
          </a:xfrm>
          <a:prstGeom prst="rect">
            <a:avLst/>
          </a:prstGeom>
        </p:spPr>
        <p:txBody>
          <a:bodyPr anchor="t" rtlCol="false" tIns="0" lIns="0" bIns="0" rIns="0">
            <a:spAutoFit/>
          </a:bodyPr>
          <a:lstStyle/>
          <a:p>
            <a:pPr algn="ctr" marL="0" indent="0" lvl="0">
              <a:lnSpc>
                <a:spcPts val="2689"/>
              </a:lnSpc>
              <a:spcBef>
                <a:spcPct val="0"/>
              </a:spcBef>
            </a:pPr>
            <a:r>
              <a:rPr lang="en-US" sz="2240" strike="noStrike" u="none">
                <a:solidFill>
                  <a:srgbClr val="111111"/>
                </a:solidFill>
                <a:latin typeface="Poppins"/>
                <a:ea typeface="Poppins"/>
                <a:cs typeface="Poppins"/>
                <a:sym typeface="Poppins"/>
              </a:rPr>
              <a:t>Sprint Planning</a:t>
            </a:r>
          </a:p>
        </p:txBody>
      </p:sp>
      <p:grpSp>
        <p:nvGrpSpPr>
          <p:cNvPr name="Group 29" id="29"/>
          <p:cNvGrpSpPr/>
          <p:nvPr/>
        </p:nvGrpSpPr>
        <p:grpSpPr>
          <a:xfrm rot="0">
            <a:off x="5450925" y="7240908"/>
            <a:ext cx="3735300" cy="667018"/>
            <a:chOff x="0" y="0"/>
            <a:chExt cx="3556000" cy="635000"/>
          </a:xfrm>
        </p:grpSpPr>
        <p:sp>
          <p:nvSpPr>
            <p:cNvPr name="Freeform 30" id="30"/>
            <p:cNvSpPr/>
            <p:nvPr/>
          </p:nvSpPr>
          <p:spPr>
            <a:xfrm flipH="false" flipV="false" rot="0">
              <a:off x="0" y="0"/>
              <a:ext cx="3556000" cy="635000"/>
            </a:xfrm>
            <a:custGeom>
              <a:avLst/>
              <a:gdLst/>
              <a:ahLst/>
              <a:cxnLst/>
              <a:rect r="r" b="b" t="t" l="l"/>
              <a:pathLst>
                <a:path h="635000" w="3556000">
                  <a:moveTo>
                    <a:pt x="63500" y="0"/>
                  </a:moveTo>
                  <a:lnTo>
                    <a:pt x="3492500" y="0"/>
                  </a:lnTo>
                  <a:cubicBezTo>
                    <a:pt x="3527570" y="0"/>
                    <a:pt x="3556000" y="28430"/>
                    <a:pt x="3556000" y="63500"/>
                  </a:cubicBezTo>
                  <a:lnTo>
                    <a:pt x="3556000" y="571500"/>
                  </a:lnTo>
                  <a:cubicBezTo>
                    <a:pt x="3556000" y="606570"/>
                    <a:pt x="3527570" y="635000"/>
                    <a:pt x="3492500" y="635000"/>
                  </a:cubicBezTo>
                  <a:lnTo>
                    <a:pt x="63500" y="635000"/>
                  </a:lnTo>
                  <a:cubicBezTo>
                    <a:pt x="28430" y="635000"/>
                    <a:pt x="0" y="606570"/>
                    <a:pt x="0" y="571500"/>
                  </a:cubicBezTo>
                  <a:lnTo>
                    <a:pt x="0" y="63500"/>
                  </a:lnTo>
                  <a:cubicBezTo>
                    <a:pt x="0" y="28430"/>
                    <a:pt x="28430" y="0"/>
                    <a:pt x="63500" y="0"/>
                  </a:cubicBezTo>
                  <a:close/>
                </a:path>
              </a:pathLst>
            </a:custGeom>
            <a:solidFill>
              <a:srgbClr val="FF5400">
                <a:alpha val="14902"/>
              </a:srgbClr>
            </a:solidFill>
          </p:spPr>
        </p:sp>
      </p:grpSp>
      <p:sp>
        <p:nvSpPr>
          <p:cNvPr name="TextBox 31" id="31"/>
          <p:cNvSpPr txBox="true"/>
          <p:nvPr/>
        </p:nvSpPr>
        <p:spPr>
          <a:xfrm rot="0">
            <a:off x="5450925" y="7381942"/>
            <a:ext cx="3735300" cy="352559"/>
          </a:xfrm>
          <a:prstGeom prst="rect">
            <a:avLst/>
          </a:prstGeom>
        </p:spPr>
        <p:txBody>
          <a:bodyPr anchor="t" rtlCol="false" tIns="0" lIns="0" bIns="0" rIns="0">
            <a:spAutoFit/>
          </a:bodyPr>
          <a:lstStyle/>
          <a:p>
            <a:pPr algn="ctr" marL="0" indent="0" lvl="0">
              <a:lnSpc>
                <a:spcPts val="2689"/>
              </a:lnSpc>
              <a:spcBef>
                <a:spcPct val="0"/>
              </a:spcBef>
            </a:pPr>
            <a:r>
              <a:rPr lang="en-US" sz="2240" strike="noStrike" u="none">
                <a:solidFill>
                  <a:srgbClr val="111111"/>
                </a:solidFill>
                <a:latin typeface="Poppins"/>
                <a:ea typeface="Poppins"/>
                <a:cs typeface="Poppins"/>
                <a:sym typeface="Poppins"/>
              </a:rPr>
              <a:t>Daily Meetings</a:t>
            </a:r>
          </a:p>
        </p:txBody>
      </p:sp>
      <p:grpSp>
        <p:nvGrpSpPr>
          <p:cNvPr name="Group 32" id="32"/>
          <p:cNvGrpSpPr/>
          <p:nvPr/>
        </p:nvGrpSpPr>
        <p:grpSpPr>
          <a:xfrm rot="0">
            <a:off x="9523754" y="7240908"/>
            <a:ext cx="3735300" cy="667018"/>
            <a:chOff x="0" y="0"/>
            <a:chExt cx="3556000" cy="635000"/>
          </a:xfrm>
        </p:grpSpPr>
        <p:sp>
          <p:nvSpPr>
            <p:cNvPr name="Freeform 33" id="33"/>
            <p:cNvSpPr/>
            <p:nvPr/>
          </p:nvSpPr>
          <p:spPr>
            <a:xfrm flipH="false" flipV="false" rot="0">
              <a:off x="0" y="0"/>
              <a:ext cx="3556000" cy="635000"/>
            </a:xfrm>
            <a:custGeom>
              <a:avLst/>
              <a:gdLst/>
              <a:ahLst/>
              <a:cxnLst/>
              <a:rect r="r" b="b" t="t" l="l"/>
              <a:pathLst>
                <a:path h="635000" w="3556000">
                  <a:moveTo>
                    <a:pt x="63500" y="0"/>
                  </a:moveTo>
                  <a:lnTo>
                    <a:pt x="3492500" y="0"/>
                  </a:lnTo>
                  <a:cubicBezTo>
                    <a:pt x="3527570" y="0"/>
                    <a:pt x="3556000" y="28430"/>
                    <a:pt x="3556000" y="63500"/>
                  </a:cubicBezTo>
                  <a:lnTo>
                    <a:pt x="3556000" y="571500"/>
                  </a:lnTo>
                  <a:cubicBezTo>
                    <a:pt x="3556000" y="606570"/>
                    <a:pt x="3527570" y="635000"/>
                    <a:pt x="3492500" y="635000"/>
                  </a:cubicBezTo>
                  <a:lnTo>
                    <a:pt x="63500" y="635000"/>
                  </a:lnTo>
                  <a:cubicBezTo>
                    <a:pt x="28430" y="635000"/>
                    <a:pt x="0" y="606570"/>
                    <a:pt x="0" y="571500"/>
                  </a:cubicBezTo>
                  <a:lnTo>
                    <a:pt x="0" y="63500"/>
                  </a:lnTo>
                  <a:cubicBezTo>
                    <a:pt x="0" y="28430"/>
                    <a:pt x="28430" y="0"/>
                    <a:pt x="63500" y="0"/>
                  </a:cubicBezTo>
                  <a:close/>
                </a:path>
              </a:pathLst>
            </a:custGeom>
            <a:solidFill>
              <a:srgbClr val="FF5400">
                <a:alpha val="14902"/>
              </a:srgbClr>
            </a:solidFill>
          </p:spPr>
        </p:sp>
      </p:grpSp>
      <p:sp>
        <p:nvSpPr>
          <p:cNvPr name="TextBox 34" id="34"/>
          <p:cNvSpPr txBox="true"/>
          <p:nvPr/>
        </p:nvSpPr>
        <p:spPr>
          <a:xfrm rot="0">
            <a:off x="9523754" y="7381942"/>
            <a:ext cx="3735300" cy="352559"/>
          </a:xfrm>
          <a:prstGeom prst="rect">
            <a:avLst/>
          </a:prstGeom>
        </p:spPr>
        <p:txBody>
          <a:bodyPr anchor="t" rtlCol="false" tIns="0" lIns="0" bIns="0" rIns="0">
            <a:spAutoFit/>
          </a:bodyPr>
          <a:lstStyle/>
          <a:p>
            <a:pPr algn="ctr" marL="0" indent="0" lvl="0">
              <a:lnSpc>
                <a:spcPts val="2689"/>
              </a:lnSpc>
              <a:spcBef>
                <a:spcPct val="0"/>
              </a:spcBef>
            </a:pPr>
            <a:r>
              <a:rPr lang="en-US" sz="2240" strike="noStrike" u="none">
                <a:solidFill>
                  <a:srgbClr val="111111"/>
                </a:solidFill>
                <a:latin typeface="Poppins"/>
                <a:ea typeface="Poppins"/>
                <a:cs typeface="Poppins"/>
                <a:sym typeface="Poppins"/>
              </a:rPr>
              <a:t>Reviews</a:t>
            </a:r>
          </a:p>
        </p:txBody>
      </p:sp>
      <p:sp>
        <p:nvSpPr>
          <p:cNvPr name="TextBox 35" id="35"/>
          <p:cNvSpPr txBox="true"/>
          <p:nvPr/>
        </p:nvSpPr>
        <p:spPr>
          <a:xfrm rot="0">
            <a:off x="13600200" y="7375272"/>
            <a:ext cx="3735300" cy="352559"/>
          </a:xfrm>
          <a:prstGeom prst="rect">
            <a:avLst/>
          </a:prstGeom>
        </p:spPr>
        <p:txBody>
          <a:bodyPr anchor="t" rtlCol="false" tIns="0" lIns="0" bIns="0" rIns="0">
            <a:spAutoFit/>
          </a:bodyPr>
          <a:lstStyle/>
          <a:p>
            <a:pPr algn="ctr" marL="0" indent="0" lvl="0">
              <a:lnSpc>
                <a:spcPts val="2689"/>
              </a:lnSpc>
              <a:spcBef>
                <a:spcPct val="0"/>
              </a:spcBef>
            </a:pPr>
            <a:r>
              <a:rPr lang="en-US" sz="2240" strike="noStrike" u="none">
                <a:solidFill>
                  <a:srgbClr val="111111"/>
                </a:solidFill>
                <a:latin typeface="Poppins"/>
                <a:ea typeface="Poppins"/>
                <a:cs typeface="Poppins"/>
                <a:sym typeface="Poppins"/>
              </a:rPr>
              <a:t>Retrospectives</a:t>
            </a:r>
          </a:p>
        </p:txBody>
      </p:sp>
      <p:grpSp>
        <p:nvGrpSpPr>
          <p:cNvPr name="Group 36" id="36"/>
          <p:cNvGrpSpPr/>
          <p:nvPr/>
        </p:nvGrpSpPr>
        <p:grpSpPr>
          <a:xfrm rot="0">
            <a:off x="13600200" y="7234238"/>
            <a:ext cx="3735300" cy="667018"/>
            <a:chOff x="0" y="0"/>
            <a:chExt cx="3556000" cy="635000"/>
          </a:xfrm>
        </p:grpSpPr>
        <p:sp>
          <p:nvSpPr>
            <p:cNvPr name="Freeform 37" id="37"/>
            <p:cNvSpPr/>
            <p:nvPr/>
          </p:nvSpPr>
          <p:spPr>
            <a:xfrm flipH="false" flipV="false" rot="0">
              <a:off x="0" y="0"/>
              <a:ext cx="3556000" cy="635000"/>
            </a:xfrm>
            <a:custGeom>
              <a:avLst/>
              <a:gdLst/>
              <a:ahLst/>
              <a:cxnLst/>
              <a:rect r="r" b="b" t="t" l="l"/>
              <a:pathLst>
                <a:path h="635000" w="3556000">
                  <a:moveTo>
                    <a:pt x="63500" y="0"/>
                  </a:moveTo>
                  <a:lnTo>
                    <a:pt x="3492500" y="0"/>
                  </a:lnTo>
                  <a:cubicBezTo>
                    <a:pt x="3527570" y="0"/>
                    <a:pt x="3556000" y="28430"/>
                    <a:pt x="3556000" y="63500"/>
                  </a:cubicBezTo>
                  <a:lnTo>
                    <a:pt x="3556000" y="571500"/>
                  </a:lnTo>
                  <a:cubicBezTo>
                    <a:pt x="3556000" y="606570"/>
                    <a:pt x="3527570" y="635000"/>
                    <a:pt x="3492500" y="635000"/>
                  </a:cubicBezTo>
                  <a:lnTo>
                    <a:pt x="63500" y="635000"/>
                  </a:lnTo>
                  <a:cubicBezTo>
                    <a:pt x="28430" y="635000"/>
                    <a:pt x="0" y="606570"/>
                    <a:pt x="0" y="571500"/>
                  </a:cubicBezTo>
                  <a:lnTo>
                    <a:pt x="0" y="63500"/>
                  </a:lnTo>
                  <a:cubicBezTo>
                    <a:pt x="0" y="28430"/>
                    <a:pt x="28430" y="0"/>
                    <a:pt x="63500" y="0"/>
                  </a:cubicBezTo>
                  <a:close/>
                </a:path>
              </a:pathLst>
            </a:custGeom>
            <a:solidFill>
              <a:srgbClr val="FF5400">
                <a:alpha val="14902"/>
              </a:srgbClr>
            </a:solidFill>
          </p:spPr>
        </p:sp>
      </p:grpSp>
      <p:sp>
        <p:nvSpPr>
          <p:cNvPr name="TextBox 38" id="38"/>
          <p:cNvSpPr txBox="true"/>
          <p:nvPr/>
        </p:nvSpPr>
        <p:spPr>
          <a:xfrm rot="0">
            <a:off x="996417" y="8353425"/>
            <a:ext cx="15672333" cy="803803"/>
          </a:xfrm>
          <a:prstGeom prst="rect">
            <a:avLst/>
          </a:prstGeom>
        </p:spPr>
        <p:txBody>
          <a:bodyPr anchor="t" rtlCol="false" tIns="0" lIns="0" bIns="0" rIns="0">
            <a:spAutoFit/>
          </a:bodyPr>
          <a:lstStyle/>
          <a:p>
            <a:pPr algn="ctr" marL="0" indent="0" lvl="0">
              <a:lnSpc>
                <a:spcPts val="3141"/>
              </a:lnSpc>
              <a:spcBef>
                <a:spcPct val="0"/>
              </a:spcBef>
            </a:pPr>
            <a:r>
              <a:rPr lang="en-US" sz="2094" strike="noStrike" u="none">
                <a:solidFill>
                  <a:srgbClr val="666666"/>
                </a:solidFill>
                <a:latin typeface="Poppins"/>
                <a:ea typeface="Poppins"/>
                <a:cs typeface="Poppins"/>
                <a:sym typeface="Poppins"/>
              </a:rPr>
              <a:t>These practices help improve communication and ensure the successful development of our educational and career opportunity platform.</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137859" y="-3757070"/>
            <a:ext cx="8275718" cy="8275718"/>
            <a:chOff x="0" y="0"/>
            <a:chExt cx="1905000" cy="1905000"/>
          </a:xfrm>
        </p:grpSpPr>
        <p:sp>
          <p:nvSpPr>
            <p:cNvPr name="Freeform 3" id="3"/>
            <p:cNvSpPr/>
            <p:nvPr/>
          </p:nvSpPr>
          <p:spPr>
            <a:xfrm flipH="false" flipV="false" rot="0">
              <a:off x="0" y="0"/>
              <a:ext cx="1905000" cy="1905000"/>
            </a:xfrm>
            <a:custGeom>
              <a:avLst/>
              <a:gdLst/>
              <a:ahLst/>
              <a:cxnLst/>
              <a:rect r="r" b="b" t="t" l="l"/>
              <a:pathLst>
                <a:path h="1905000" w="1905000">
                  <a:moveTo>
                    <a:pt x="952500" y="0"/>
                  </a:moveTo>
                  <a:cubicBezTo>
                    <a:pt x="426449" y="0"/>
                    <a:pt x="0" y="426449"/>
                    <a:pt x="0" y="952500"/>
                  </a:cubicBezTo>
                  <a:cubicBezTo>
                    <a:pt x="0" y="1478551"/>
                    <a:pt x="426449" y="1905000"/>
                    <a:pt x="952500" y="1905000"/>
                  </a:cubicBezTo>
                  <a:cubicBezTo>
                    <a:pt x="1478551" y="1905000"/>
                    <a:pt x="1905000" y="1478551"/>
                    <a:pt x="1905000" y="952500"/>
                  </a:cubicBezTo>
                  <a:cubicBezTo>
                    <a:pt x="1905000" y="426449"/>
                    <a:pt x="1478551" y="0"/>
                    <a:pt x="952500" y="0"/>
                  </a:cubicBezTo>
                  <a:close/>
                </a:path>
              </a:pathLst>
            </a:custGeom>
            <a:solidFill>
              <a:srgbClr val="FF5400">
                <a:alpha val="7843"/>
              </a:srgbClr>
            </a:solidFill>
          </p:spPr>
        </p:sp>
      </p:grpSp>
      <p:grpSp>
        <p:nvGrpSpPr>
          <p:cNvPr name="Group 4" id="4"/>
          <p:cNvGrpSpPr/>
          <p:nvPr/>
        </p:nvGrpSpPr>
        <p:grpSpPr>
          <a:xfrm rot="0">
            <a:off x="8186784" y="7671558"/>
            <a:ext cx="7868250" cy="7868250"/>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7259300" y="-2055925"/>
            <a:ext cx="4975382" cy="4975382"/>
            <a:chOff x="0" y="0"/>
            <a:chExt cx="1270000" cy="1270000"/>
          </a:xfrm>
        </p:grpSpPr>
        <p:sp>
          <p:nvSpPr>
            <p:cNvPr name="Freeform 7" id="7"/>
            <p:cNvSpPr/>
            <p:nvPr/>
          </p:nvSpPr>
          <p:spPr>
            <a:xfrm flipH="false" flipV="false" rot="0">
              <a:off x="0" y="0"/>
              <a:ext cx="1270000" cy="1270000"/>
            </a:xfrm>
            <a:custGeom>
              <a:avLst/>
              <a:gdLst/>
              <a:ahLst/>
              <a:cxnLst/>
              <a:rect r="r" b="b" t="t" l="l"/>
              <a:pathLst>
                <a:path h="1270000" w="1270000">
                  <a:moveTo>
                    <a:pt x="635000" y="0"/>
                  </a:moveTo>
                  <a:cubicBezTo>
                    <a:pt x="284299" y="0"/>
                    <a:pt x="0" y="284299"/>
                    <a:pt x="0" y="635000"/>
                  </a:cubicBezTo>
                  <a:cubicBezTo>
                    <a:pt x="0" y="985701"/>
                    <a:pt x="284299" y="1270000"/>
                    <a:pt x="635000" y="1270000"/>
                  </a:cubicBezTo>
                  <a:cubicBezTo>
                    <a:pt x="985701" y="1270000"/>
                    <a:pt x="1270000" y="985701"/>
                    <a:pt x="1270000" y="635000"/>
                  </a:cubicBezTo>
                  <a:cubicBezTo>
                    <a:pt x="1270000" y="284299"/>
                    <a:pt x="985701" y="0"/>
                    <a:pt x="635000" y="0"/>
                  </a:cubicBezTo>
                  <a:close/>
                </a:path>
              </a:pathLst>
            </a:custGeom>
            <a:solidFill>
              <a:srgbClr val="FF5400">
                <a:alpha val="11765"/>
              </a:srgbClr>
            </a:solidFill>
          </p:spPr>
        </p:sp>
      </p:grpSp>
      <p:sp>
        <p:nvSpPr>
          <p:cNvPr name="TextBox 8" id="8"/>
          <p:cNvSpPr txBox="true"/>
          <p:nvPr/>
        </p:nvSpPr>
        <p:spPr>
          <a:xfrm rot="0">
            <a:off x="714675" y="9445355"/>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User Profile Management</a:t>
            </a:r>
          </a:p>
        </p:txBody>
      </p:sp>
      <p:sp>
        <p:nvSpPr>
          <p:cNvPr name="TextBox 9" id="9"/>
          <p:cNvSpPr txBox="true"/>
          <p:nvPr/>
        </p:nvSpPr>
        <p:spPr>
          <a:xfrm rot="0">
            <a:off x="714675" y="8740720"/>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Favorites / Bookmark System</a:t>
            </a:r>
          </a:p>
        </p:txBody>
      </p:sp>
      <p:sp>
        <p:nvSpPr>
          <p:cNvPr name="TextBox 10" id="10"/>
          <p:cNvSpPr txBox="true"/>
          <p:nvPr/>
        </p:nvSpPr>
        <p:spPr>
          <a:xfrm rot="0">
            <a:off x="714675" y="8036085"/>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Application Tracking System</a:t>
            </a:r>
          </a:p>
        </p:txBody>
      </p:sp>
      <p:sp>
        <p:nvSpPr>
          <p:cNvPr name="TextBox 11" id="11"/>
          <p:cNvSpPr txBox="true"/>
          <p:nvPr/>
        </p:nvSpPr>
        <p:spPr>
          <a:xfrm rot="0">
            <a:off x="714675" y="7331450"/>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Personalized Feed System</a:t>
            </a:r>
          </a:p>
        </p:txBody>
      </p:sp>
      <p:sp>
        <p:nvSpPr>
          <p:cNvPr name="TextBox 12" id="12"/>
          <p:cNvSpPr txBox="true"/>
          <p:nvPr/>
        </p:nvSpPr>
        <p:spPr>
          <a:xfrm rot="0">
            <a:off x="714675" y="6626815"/>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Search &amp; Filter System</a:t>
            </a:r>
          </a:p>
        </p:txBody>
      </p:sp>
      <p:sp>
        <p:nvSpPr>
          <p:cNvPr name="TextBox 13" id="13"/>
          <p:cNvSpPr txBox="true"/>
          <p:nvPr/>
        </p:nvSpPr>
        <p:spPr>
          <a:xfrm rot="0">
            <a:off x="221431" y="6152621"/>
            <a:ext cx="4227809" cy="370947"/>
          </a:xfrm>
          <a:prstGeom prst="rect">
            <a:avLst/>
          </a:prstGeom>
        </p:spPr>
        <p:txBody>
          <a:bodyPr anchor="t" rtlCol="false" tIns="0" lIns="0" bIns="0" rIns="0">
            <a:spAutoFit/>
          </a:bodyPr>
          <a:lstStyle/>
          <a:p>
            <a:pPr algn="l" marL="0" indent="0" lvl="0">
              <a:lnSpc>
                <a:spcPts val="2899"/>
              </a:lnSpc>
              <a:spcBef>
                <a:spcPct val="0"/>
              </a:spcBef>
            </a:pPr>
            <a:r>
              <a:rPr lang="en-US" sz="2071" strike="noStrike" u="none">
                <a:solidFill>
                  <a:srgbClr val="444444"/>
                </a:solidFill>
                <a:latin typeface="Poppins"/>
                <a:ea typeface="Poppins"/>
                <a:cs typeface="Poppins"/>
                <a:sym typeface="Poppins"/>
              </a:rPr>
              <a:t>26.02 - 05.03</a:t>
            </a:r>
          </a:p>
        </p:txBody>
      </p:sp>
      <p:sp>
        <p:nvSpPr>
          <p:cNvPr name="TextBox 14" id="14"/>
          <p:cNvSpPr txBox="true"/>
          <p:nvPr/>
        </p:nvSpPr>
        <p:spPr>
          <a:xfrm rot="0">
            <a:off x="714675" y="4442448"/>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API Integration Research</a:t>
            </a:r>
          </a:p>
        </p:txBody>
      </p:sp>
      <p:sp>
        <p:nvSpPr>
          <p:cNvPr name="TextBox 15" id="15"/>
          <p:cNvSpPr txBox="true"/>
          <p:nvPr/>
        </p:nvSpPr>
        <p:spPr>
          <a:xfrm rot="0">
            <a:off x="714675" y="3737813"/>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Role &amp; Access Management</a:t>
            </a:r>
          </a:p>
        </p:txBody>
      </p:sp>
      <p:sp>
        <p:nvSpPr>
          <p:cNvPr name="TextBox 16" id="16"/>
          <p:cNvSpPr txBox="true"/>
          <p:nvPr/>
        </p:nvSpPr>
        <p:spPr>
          <a:xfrm rot="0">
            <a:off x="714675" y="3033178"/>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User Registration &amp; Authentication</a:t>
            </a:r>
          </a:p>
        </p:txBody>
      </p:sp>
      <p:sp>
        <p:nvSpPr>
          <p:cNvPr name="TextBox 17" id="17"/>
          <p:cNvSpPr txBox="true"/>
          <p:nvPr/>
        </p:nvSpPr>
        <p:spPr>
          <a:xfrm rot="0">
            <a:off x="714675" y="2328543"/>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Opportunity Data Setup</a:t>
            </a:r>
          </a:p>
        </p:txBody>
      </p:sp>
      <p:sp>
        <p:nvSpPr>
          <p:cNvPr name="TextBox 18" id="18"/>
          <p:cNvSpPr txBox="true"/>
          <p:nvPr/>
        </p:nvSpPr>
        <p:spPr>
          <a:xfrm rot="0">
            <a:off x="714675" y="1623909"/>
            <a:ext cx="10499058" cy="473614"/>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111111"/>
                </a:solidFill>
                <a:latin typeface="Poppins"/>
                <a:ea typeface="Poppins"/>
                <a:cs typeface="Poppins"/>
                <a:sym typeface="Poppins"/>
              </a:rPr>
              <a:t>Database Design &amp; Planning</a:t>
            </a:r>
          </a:p>
        </p:txBody>
      </p:sp>
      <p:sp>
        <p:nvSpPr>
          <p:cNvPr name="TextBox 19" id="19"/>
          <p:cNvSpPr txBox="true"/>
          <p:nvPr/>
        </p:nvSpPr>
        <p:spPr>
          <a:xfrm rot="0">
            <a:off x="221431" y="938324"/>
            <a:ext cx="4227809" cy="370947"/>
          </a:xfrm>
          <a:prstGeom prst="rect">
            <a:avLst/>
          </a:prstGeom>
        </p:spPr>
        <p:txBody>
          <a:bodyPr anchor="t" rtlCol="false" tIns="0" lIns="0" bIns="0" rIns="0">
            <a:spAutoFit/>
          </a:bodyPr>
          <a:lstStyle/>
          <a:p>
            <a:pPr algn="l" marL="0" indent="0" lvl="0">
              <a:lnSpc>
                <a:spcPts val="2899"/>
              </a:lnSpc>
              <a:spcBef>
                <a:spcPct val="0"/>
              </a:spcBef>
            </a:pPr>
            <a:r>
              <a:rPr lang="en-US" sz="2071" strike="noStrike" u="none">
                <a:solidFill>
                  <a:srgbClr val="444444"/>
                </a:solidFill>
                <a:latin typeface="Poppins"/>
                <a:ea typeface="Poppins"/>
                <a:cs typeface="Poppins"/>
                <a:sym typeface="Poppins"/>
              </a:rPr>
              <a:t>16.02 - 25.02</a:t>
            </a:r>
          </a:p>
        </p:txBody>
      </p:sp>
      <p:sp>
        <p:nvSpPr>
          <p:cNvPr name="TextBox 20" id="20"/>
          <p:cNvSpPr txBox="true"/>
          <p:nvPr/>
        </p:nvSpPr>
        <p:spPr>
          <a:xfrm rot="0">
            <a:off x="5051891" y="505361"/>
            <a:ext cx="8572500" cy="803910"/>
          </a:xfrm>
          <a:prstGeom prst="rect">
            <a:avLst/>
          </a:prstGeom>
        </p:spPr>
        <p:txBody>
          <a:bodyPr anchor="t" rtlCol="false" tIns="0" lIns="0" bIns="0" rIns="0">
            <a:spAutoFit/>
          </a:bodyPr>
          <a:lstStyle/>
          <a:p>
            <a:pPr algn="ctr" marL="0" indent="0" lvl="0">
              <a:lnSpc>
                <a:spcPts val="5280"/>
              </a:lnSpc>
              <a:spcBef>
                <a:spcPct val="0"/>
              </a:spcBef>
            </a:pPr>
            <a:r>
              <a:rPr lang="en-US" sz="4800" strike="noStrike" u="none">
                <a:solidFill>
                  <a:srgbClr val="111111"/>
                </a:solidFill>
                <a:latin typeface="Agrandir"/>
                <a:ea typeface="Agrandir"/>
                <a:cs typeface="Agrandir"/>
                <a:sym typeface="Agrandir"/>
              </a:rPr>
              <a:t>Sprint Planning</a:t>
            </a:r>
          </a:p>
        </p:txBody>
      </p:sp>
      <p:sp>
        <p:nvSpPr>
          <p:cNvPr name="TextBox 21" id="21"/>
          <p:cNvSpPr txBox="true"/>
          <p:nvPr/>
        </p:nvSpPr>
        <p:spPr>
          <a:xfrm rot="0">
            <a:off x="221431" y="317466"/>
            <a:ext cx="10992302" cy="692101"/>
          </a:xfrm>
          <a:prstGeom prst="rect">
            <a:avLst/>
          </a:prstGeom>
        </p:spPr>
        <p:txBody>
          <a:bodyPr anchor="t" rtlCol="false" tIns="0" lIns="0" bIns="0" rIns="0">
            <a:spAutoFit/>
          </a:bodyPr>
          <a:lstStyle/>
          <a:p>
            <a:pPr algn="l" marL="0" indent="0" lvl="0">
              <a:lnSpc>
                <a:spcPts val="4616"/>
              </a:lnSpc>
              <a:spcBef>
                <a:spcPct val="0"/>
              </a:spcBef>
            </a:pPr>
            <a:r>
              <a:rPr lang="en-US" sz="3846" strike="noStrike" u="none">
                <a:solidFill>
                  <a:srgbClr val="FF5400"/>
                </a:solidFill>
                <a:latin typeface="Agrandir"/>
                <a:ea typeface="Agrandir"/>
                <a:cs typeface="Agrandir"/>
                <a:sym typeface="Agrandir"/>
              </a:rPr>
              <a:t>Sprint 1 - System Foundation</a:t>
            </a:r>
          </a:p>
        </p:txBody>
      </p:sp>
      <p:sp>
        <p:nvSpPr>
          <p:cNvPr name="AutoShape 22" id="22"/>
          <p:cNvSpPr/>
          <p:nvPr/>
        </p:nvSpPr>
        <p:spPr>
          <a:xfrm>
            <a:off x="221431" y="1841036"/>
            <a:ext cx="281854" cy="0"/>
          </a:xfrm>
          <a:prstGeom prst="line">
            <a:avLst/>
          </a:prstGeom>
          <a:ln cap="rnd" w="38100">
            <a:solidFill>
              <a:srgbClr val="FF5400"/>
            </a:solidFill>
            <a:prstDash val="solid"/>
            <a:headEnd type="none" len="sm" w="sm"/>
            <a:tailEnd type="none" len="sm" w="sm"/>
          </a:ln>
        </p:spPr>
      </p:sp>
      <p:sp>
        <p:nvSpPr>
          <p:cNvPr name="AutoShape 23" id="23"/>
          <p:cNvSpPr/>
          <p:nvPr/>
        </p:nvSpPr>
        <p:spPr>
          <a:xfrm>
            <a:off x="221431" y="2545670"/>
            <a:ext cx="281854" cy="0"/>
          </a:xfrm>
          <a:prstGeom prst="line">
            <a:avLst/>
          </a:prstGeom>
          <a:ln cap="rnd" w="38100">
            <a:solidFill>
              <a:srgbClr val="FF5400"/>
            </a:solidFill>
            <a:prstDash val="solid"/>
            <a:headEnd type="none" len="sm" w="sm"/>
            <a:tailEnd type="none" len="sm" w="sm"/>
          </a:ln>
        </p:spPr>
      </p:sp>
      <p:sp>
        <p:nvSpPr>
          <p:cNvPr name="AutoShape 24" id="24"/>
          <p:cNvSpPr/>
          <p:nvPr/>
        </p:nvSpPr>
        <p:spPr>
          <a:xfrm>
            <a:off x="221431" y="3250305"/>
            <a:ext cx="281854" cy="0"/>
          </a:xfrm>
          <a:prstGeom prst="line">
            <a:avLst/>
          </a:prstGeom>
          <a:ln cap="rnd" w="38100">
            <a:solidFill>
              <a:srgbClr val="FF5400"/>
            </a:solidFill>
            <a:prstDash val="solid"/>
            <a:headEnd type="none" len="sm" w="sm"/>
            <a:tailEnd type="none" len="sm" w="sm"/>
          </a:ln>
        </p:spPr>
      </p:sp>
      <p:sp>
        <p:nvSpPr>
          <p:cNvPr name="AutoShape 25" id="25"/>
          <p:cNvSpPr/>
          <p:nvPr/>
        </p:nvSpPr>
        <p:spPr>
          <a:xfrm>
            <a:off x="221431" y="3954940"/>
            <a:ext cx="281854" cy="0"/>
          </a:xfrm>
          <a:prstGeom prst="line">
            <a:avLst/>
          </a:prstGeom>
          <a:ln cap="rnd" w="38100">
            <a:solidFill>
              <a:srgbClr val="FF5400"/>
            </a:solidFill>
            <a:prstDash val="solid"/>
            <a:headEnd type="none" len="sm" w="sm"/>
            <a:tailEnd type="none" len="sm" w="sm"/>
          </a:ln>
        </p:spPr>
      </p:sp>
      <p:sp>
        <p:nvSpPr>
          <p:cNvPr name="AutoShape 26" id="26"/>
          <p:cNvSpPr/>
          <p:nvPr/>
        </p:nvSpPr>
        <p:spPr>
          <a:xfrm>
            <a:off x="221431" y="4659575"/>
            <a:ext cx="281854" cy="0"/>
          </a:xfrm>
          <a:prstGeom prst="line">
            <a:avLst/>
          </a:prstGeom>
          <a:ln cap="rnd" w="38100">
            <a:solidFill>
              <a:srgbClr val="FF5400"/>
            </a:solidFill>
            <a:prstDash val="solid"/>
            <a:headEnd type="none" len="sm" w="sm"/>
            <a:tailEnd type="none" len="sm" w="sm"/>
          </a:ln>
        </p:spPr>
      </p:sp>
      <p:sp>
        <p:nvSpPr>
          <p:cNvPr name="TextBox 27" id="27"/>
          <p:cNvSpPr txBox="true"/>
          <p:nvPr/>
        </p:nvSpPr>
        <p:spPr>
          <a:xfrm rot="0">
            <a:off x="221431" y="5531763"/>
            <a:ext cx="10992302" cy="692101"/>
          </a:xfrm>
          <a:prstGeom prst="rect">
            <a:avLst/>
          </a:prstGeom>
        </p:spPr>
        <p:txBody>
          <a:bodyPr anchor="t" rtlCol="false" tIns="0" lIns="0" bIns="0" rIns="0">
            <a:spAutoFit/>
          </a:bodyPr>
          <a:lstStyle/>
          <a:p>
            <a:pPr algn="l" marL="0" indent="0" lvl="0">
              <a:lnSpc>
                <a:spcPts val="4616"/>
              </a:lnSpc>
              <a:spcBef>
                <a:spcPct val="0"/>
              </a:spcBef>
            </a:pPr>
            <a:r>
              <a:rPr lang="en-US" sz="3846" strike="noStrike" u="none">
                <a:solidFill>
                  <a:srgbClr val="FF5400"/>
                </a:solidFill>
                <a:latin typeface="Agrandir"/>
                <a:ea typeface="Agrandir"/>
                <a:cs typeface="Agrandir"/>
                <a:sym typeface="Agrandir"/>
              </a:rPr>
              <a:t>Sprint 2 - Core Features</a:t>
            </a:r>
          </a:p>
        </p:txBody>
      </p:sp>
      <p:sp>
        <p:nvSpPr>
          <p:cNvPr name="AutoShape 28" id="28"/>
          <p:cNvSpPr/>
          <p:nvPr/>
        </p:nvSpPr>
        <p:spPr>
          <a:xfrm>
            <a:off x="221431" y="6843942"/>
            <a:ext cx="281854" cy="0"/>
          </a:xfrm>
          <a:prstGeom prst="line">
            <a:avLst/>
          </a:prstGeom>
          <a:ln cap="rnd" w="38100">
            <a:solidFill>
              <a:srgbClr val="FF5400"/>
            </a:solidFill>
            <a:prstDash val="solid"/>
            <a:headEnd type="none" len="sm" w="sm"/>
            <a:tailEnd type="none" len="sm" w="sm"/>
          </a:ln>
        </p:spPr>
      </p:sp>
      <p:sp>
        <p:nvSpPr>
          <p:cNvPr name="AutoShape 29" id="29"/>
          <p:cNvSpPr/>
          <p:nvPr/>
        </p:nvSpPr>
        <p:spPr>
          <a:xfrm>
            <a:off x="221431" y="7548577"/>
            <a:ext cx="281854" cy="0"/>
          </a:xfrm>
          <a:prstGeom prst="line">
            <a:avLst/>
          </a:prstGeom>
          <a:ln cap="rnd" w="38100">
            <a:solidFill>
              <a:srgbClr val="FF5400"/>
            </a:solidFill>
            <a:prstDash val="solid"/>
            <a:headEnd type="none" len="sm" w="sm"/>
            <a:tailEnd type="none" len="sm" w="sm"/>
          </a:ln>
        </p:spPr>
      </p:sp>
      <p:sp>
        <p:nvSpPr>
          <p:cNvPr name="AutoShape 30" id="30"/>
          <p:cNvSpPr/>
          <p:nvPr/>
        </p:nvSpPr>
        <p:spPr>
          <a:xfrm>
            <a:off x="221431" y="8253212"/>
            <a:ext cx="281854" cy="0"/>
          </a:xfrm>
          <a:prstGeom prst="line">
            <a:avLst/>
          </a:prstGeom>
          <a:ln cap="rnd" w="38100">
            <a:solidFill>
              <a:srgbClr val="FF5400"/>
            </a:solidFill>
            <a:prstDash val="solid"/>
            <a:headEnd type="none" len="sm" w="sm"/>
            <a:tailEnd type="none" len="sm" w="sm"/>
          </a:ln>
        </p:spPr>
      </p:sp>
      <p:sp>
        <p:nvSpPr>
          <p:cNvPr name="AutoShape 31" id="31"/>
          <p:cNvSpPr/>
          <p:nvPr/>
        </p:nvSpPr>
        <p:spPr>
          <a:xfrm>
            <a:off x="221431" y="8957847"/>
            <a:ext cx="281854" cy="0"/>
          </a:xfrm>
          <a:prstGeom prst="line">
            <a:avLst/>
          </a:prstGeom>
          <a:ln cap="rnd" w="38100">
            <a:solidFill>
              <a:srgbClr val="FF5400"/>
            </a:solidFill>
            <a:prstDash val="solid"/>
            <a:headEnd type="none" len="sm" w="sm"/>
            <a:tailEnd type="none" len="sm" w="sm"/>
          </a:ln>
        </p:spPr>
      </p:sp>
      <p:sp>
        <p:nvSpPr>
          <p:cNvPr name="AutoShape 32" id="32"/>
          <p:cNvSpPr/>
          <p:nvPr/>
        </p:nvSpPr>
        <p:spPr>
          <a:xfrm>
            <a:off x="221431" y="9662481"/>
            <a:ext cx="281854" cy="0"/>
          </a:xfrm>
          <a:prstGeom prst="line">
            <a:avLst/>
          </a:prstGeom>
          <a:ln cap="rnd" w="38100">
            <a:solidFill>
              <a:srgbClr val="FF540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653970" y="8698509"/>
            <a:ext cx="3394532" cy="3394532"/>
            <a:chOff x="0" y="0"/>
            <a:chExt cx="1905000" cy="1905000"/>
          </a:xfrm>
        </p:grpSpPr>
        <p:sp>
          <p:nvSpPr>
            <p:cNvPr name="Freeform 3" id="3"/>
            <p:cNvSpPr/>
            <p:nvPr/>
          </p:nvSpPr>
          <p:spPr>
            <a:xfrm flipH="false" flipV="false" rot="0">
              <a:off x="0" y="0"/>
              <a:ext cx="1905000" cy="1905000"/>
            </a:xfrm>
            <a:custGeom>
              <a:avLst/>
              <a:gdLst/>
              <a:ahLst/>
              <a:cxnLst/>
              <a:rect r="r" b="b" t="t" l="l"/>
              <a:pathLst>
                <a:path h="1905000" w="1905000">
                  <a:moveTo>
                    <a:pt x="952500" y="0"/>
                  </a:moveTo>
                  <a:cubicBezTo>
                    <a:pt x="426449" y="0"/>
                    <a:pt x="0" y="426449"/>
                    <a:pt x="0" y="952500"/>
                  </a:cubicBezTo>
                  <a:cubicBezTo>
                    <a:pt x="0" y="1478551"/>
                    <a:pt x="426449" y="1905000"/>
                    <a:pt x="952500" y="1905000"/>
                  </a:cubicBezTo>
                  <a:cubicBezTo>
                    <a:pt x="1478551" y="1905000"/>
                    <a:pt x="1905000" y="1478551"/>
                    <a:pt x="1905000" y="952500"/>
                  </a:cubicBezTo>
                  <a:cubicBezTo>
                    <a:pt x="1905000" y="426449"/>
                    <a:pt x="1478551" y="0"/>
                    <a:pt x="952500" y="0"/>
                  </a:cubicBezTo>
                  <a:close/>
                </a:path>
              </a:pathLst>
            </a:custGeom>
            <a:solidFill>
              <a:srgbClr val="FF5400">
                <a:alpha val="7843"/>
              </a:srgbClr>
            </a:solidFill>
          </p:spPr>
        </p:sp>
      </p:grpSp>
      <p:grpSp>
        <p:nvGrpSpPr>
          <p:cNvPr name="Group 4" id="4"/>
          <p:cNvGrpSpPr/>
          <p:nvPr/>
        </p:nvGrpSpPr>
        <p:grpSpPr>
          <a:xfrm rot="0">
            <a:off x="16845095" y="3255709"/>
            <a:ext cx="4036290" cy="3739816"/>
            <a:chOff x="0" y="0"/>
            <a:chExt cx="802337" cy="743404"/>
          </a:xfrm>
        </p:grpSpPr>
        <p:sp>
          <p:nvSpPr>
            <p:cNvPr name="Freeform 5" id="5"/>
            <p:cNvSpPr/>
            <p:nvPr/>
          </p:nvSpPr>
          <p:spPr>
            <a:xfrm flipH="false" flipV="false" rot="0">
              <a:off x="0" y="0"/>
              <a:ext cx="802338" cy="743404"/>
            </a:xfrm>
            <a:custGeom>
              <a:avLst/>
              <a:gdLst/>
              <a:ahLst/>
              <a:cxnLst/>
              <a:rect r="r" b="b" t="t" l="l"/>
              <a:pathLst>
                <a:path h="743404" w="802338">
                  <a:moveTo>
                    <a:pt x="401169" y="0"/>
                  </a:moveTo>
                  <a:lnTo>
                    <a:pt x="802338" y="371702"/>
                  </a:lnTo>
                  <a:lnTo>
                    <a:pt x="401169" y="743404"/>
                  </a:lnTo>
                  <a:lnTo>
                    <a:pt x="0" y="371702"/>
                  </a:lnTo>
                  <a:lnTo>
                    <a:pt x="401169" y="0"/>
                  </a:lnTo>
                  <a:close/>
                </a:path>
              </a:pathLst>
            </a:custGeom>
            <a:solidFill>
              <a:srgbClr val="FF5400">
                <a:alpha val="40000"/>
              </a:srgbClr>
            </a:solidFill>
          </p:spPr>
        </p:sp>
      </p:grpSp>
      <p:grpSp>
        <p:nvGrpSpPr>
          <p:cNvPr name="Group 6" id="6"/>
          <p:cNvGrpSpPr/>
          <p:nvPr/>
        </p:nvGrpSpPr>
        <p:grpSpPr>
          <a:xfrm rot="0">
            <a:off x="12653970" y="-3245821"/>
            <a:ext cx="4855679" cy="4855679"/>
            <a:chOff x="0" y="0"/>
            <a:chExt cx="635000" cy="635000"/>
          </a:xfrm>
        </p:grpSpPr>
        <p:sp>
          <p:nvSpPr>
            <p:cNvPr name="Freeform 7" id="7"/>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8" id="8"/>
          <p:cNvGrpSpPr/>
          <p:nvPr/>
        </p:nvGrpSpPr>
        <p:grpSpPr>
          <a:xfrm rot="0">
            <a:off x="-2809855" y="-2436763"/>
            <a:ext cx="4832670" cy="4832670"/>
            <a:chOff x="0" y="0"/>
            <a:chExt cx="1270000" cy="1270000"/>
          </a:xfrm>
        </p:grpSpPr>
        <p:sp>
          <p:nvSpPr>
            <p:cNvPr name="Freeform 9" id="9"/>
            <p:cNvSpPr/>
            <p:nvPr/>
          </p:nvSpPr>
          <p:spPr>
            <a:xfrm flipH="false" flipV="false" rot="0">
              <a:off x="0" y="0"/>
              <a:ext cx="1270000" cy="1270000"/>
            </a:xfrm>
            <a:custGeom>
              <a:avLst/>
              <a:gdLst/>
              <a:ahLst/>
              <a:cxnLst/>
              <a:rect r="r" b="b" t="t" l="l"/>
              <a:pathLst>
                <a:path h="1270000" w="1270000">
                  <a:moveTo>
                    <a:pt x="635000" y="0"/>
                  </a:moveTo>
                  <a:cubicBezTo>
                    <a:pt x="284299" y="0"/>
                    <a:pt x="0" y="284299"/>
                    <a:pt x="0" y="635000"/>
                  </a:cubicBezTo>
                  <a:cubicBezTo>
                    <a:pt x="0" y="985701"/>
                    <a:pt x="284299" y="1270000"/>
                    <a:pt x="635000" y="1270000"/>
                  </a:cubicBezTo>
                  <a:cubicBezTo>
                    <a:pt x="985701" y="1270000"/>
                    <a:pt x="1270000" y="985701"/>
                    <a:pt x="1270000" y="635000"/>
                  </a:cubicBezTo>
                  <a:cubicBezTo>
                    <a:pt x="1270000" y="284299"/>
                    <a:pt x="985701" y="0"/>
                    <a:pt x="635000" y="0"/>
                  </a:cubicBezTo>
                  <a:close/>
                </a:path>
              </a:pathLst>
            </a:custGeom>
            <a:solidFill>
              <a:srgbClr val="FF5400">
                <a:alpha val="11765"/>
              </a:srgbClr>
            </a:solidFill>
          </p:spPr>
        </p:sp>
      </p:grpSp>
      <p:sp>
        <p:nvSpPr>
          <p:cNvPr name="TextBox 10" id="10"/>
          <p:cNvSpPr txBox="true"/>
          <p:nvPr/>
        </p:nvSpPr>
        <p:spPr>
          <a:xfrm rot="0">
            <a:off x="509775" y="9519857"/>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Testing</a:t>
            </a:r>
          </a:p>
        </p:txBody>
      </p:sp>
      <p:sp>
        <p:nvSpPr>
          <p:cNvPr name="TextBox 11" id="11"/>
          <p:cNvSpPr txBox="true"/>
          <p:nvPr/>
        </p:nvSpPr>
        <p:spPr>
          <a:xfrm rot="0">
            <a:off x="509775" y="8791607"/>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Advanced Security &amp; Data Protection</a:t>
            </a:r>
          </a:p>
        </p:txBody>
      </p:sp>
      <p:sp>
        <p:nvSpPr>
          <p:cNvPr name="TextBox 12" id="12"/>
          <p:cNvSpPr txBox="true"/>
          <p:nvPr/>
        </p:nvSpPr>
        <p:spPr>
          <a:xfrm rot="0">
            <a:off x="509775" y="8063357"/>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Multi-Language Support</a:t>
            </a:r>
          </a:p>
        </p:txBody>
      </p:sp>
      <p:sp>
        <p:nvSpPr>
          <p:cNvPr name="TextBox 13" id="13"/>
          <p:cNvSpPr txBox="true"/>
          <p:nvPr/>
        </p:nvSpPr>
        <p:spPr>
          <a:xfrm rot="0">
            <a:off x="509775" y="7335107"/>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Interview &amp; Video Interaction System</a:t>
            </a:r>
          </a:p>
        </p:txBody>
      </p:sp>
      <p:sp>
        <p:nvSpPr>
          <p:cNvPr name="TextBox 14" id="14"/>
          <p:cNvSpPr txBox="true"/>
          <p:nvPr/>
        </p:nvSpPr>
        <p:spPr>
          <a:xfrm rot="0">
            <a:off x="509775" y="6606857"/>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Review &amp; Feedback System</a:t>
            </a:r>
          </a:p>
        </p:txBody>
      </p:sp>
      <p:sp>
        <p:nvSpPr>
          <p:cNvPr name="TextBox 15" id="15"/>
          <p:cNvSpPr txBox="true"/>
          <p:nvPr/>
        </p:nvSpPr>
        <p:spPr>
          <a:xfrm rot="0">
            <a:off x="0" y="6125657"/>
            <a:ext cx="4369500" cy="381464"/>
          </a:xfrm>
          <a:prstGeom prst="rect">
            <a:avLst/>
          </a:prstGeom>
        </p:spPr>
        <p:txBody>
          <a:bodyPr anchor="t" rtlCol="false" tIns="0" lIns="0" bIns="0" rIns="0">
            <a:spAutoFit/>
          </a:bodyPr>
          <a:lstStyle/>
          <a:p>
            <a:pPr algn="l" marL="0" indent="0" lvl="0">
              <a:lnSpc>
                <a:spcPts val="2997"/>
              </a:lnSpc>
              <a:spcBef>
                <a:spcPct val="0"/>
              </a:spcBef>
            </a:pPr>
            <a:r>
              <a:rPr lang="en-US" sz="2140" strike="noStrike" u="none">
                <a:solidFill>
                  <a:srgbClr val="444444"/>
                </a:solidFill>
                <a:latin typeface="Poppins"/>
                <a:ea typeface="Poppins"/>
                <a:cs typeface="Poppins"/>
                <a:sym typeface="Poppins"/>
              </a:rPr>
              <a:t>19.03 - 30.03</a:t>
            </a:r>
          </a:p>
        </p:txBody>
      </p:sp>
      <p:sp>
        <p:nvSpPr>
          <p:cNvPr name="TextBox 16" id="16"/>
          <p:cNvSpPr txBox="true"/>
          <p:nvPr/>
        </p:nvSpPr>
        <p:spPr>
          <a:xfrm rot="0">
            <a:off x="509775" y="4349282"/>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Analytics &amp; Reporting System</a:t>
            </a:r>
          </a:p>
        </p:txBody>
      </p:sp>
      <p:sp>
        <p:nvSpPr>
          <p:cNvPr name="TextBox 17" id="17"/>
          <p:cNvSpPr txBox="true"/>
          <p:nvPr/>
        </p:nvSpPr>
        <p:spPr>
          <a:xfrm rot="0">
            <a:off x="509775" y="3621032"/>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Duplicate Application Prevention</a:t>
            </a:r>
          </a:p>
        </p:txBody>
      </p:sp>
      <p:sp>
        <p:nvSpPr>
          <p:cNvPr name="TextBox 18" id="18"/>
          <p:cNvSpPr txBox="true"/>
          <p:nvPr/>
        </p:nvSpPr>
        <p:spPr>
          <a:xfrm rot="0">
            <a:off x="509775" y="2892782"/>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Deadline Reminder System</a:t>
            </a:r>
          </a:p>
        </p:txBody>
      </p:sp>
      <p:sp>
        <p:nvSpPr>
          <p:cNvPr name="TextBox 19" id="19"/>
          <p:cNvSpPr txBox="true"/>
          <p:nvPr/>
        </p:nvSpPr>
        <p:spPr>
          <a:xfrm rot="0">
            <a:off x="509775" y="2164532"/>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Notification System</a:t>
            </a:r>
          </a:p>
        </p:txBody>
      </p:sp>
      <p:sp>
        <p:nvSpPr>
          <p:cNvPr name="TextBox 20" id="20"/>
          <p:cNvSpPr txBox="true"/>
          <p:nvPr/>
        </p:nvSpPr>
        <p:spPr>
          <a:xfrm rot="0">
            <a:off x="509775" y="1436282"/>
            <a:ext cx="10850925" cy="496458"/>
          </a:xfrm>
          <a:prstGeom prst="rect">
            <a:avLst/>
          </a:prstGeom>
        </p:spPr>
        <p:txBody>
          <a:bodyPr anchor="t" rtlCol="false" tIns="0" lIns="0" bIns="0" rIns="0">
            <a:spAutoFit/>
          </a:bodyPr>
          <a:lstStyle/>
          <a:p>
            <a:pPr algn="l" marL="0" indent="0" lvl="0">
              <a:lnSpc>
                <a:spcPts val="3853"/>
              </a:lnSpc>
              <a:spcBef>
                <a:spcPct val="0"/>
              </a:spcBef>
            </a:pPr>
            <a:r>
              <a:rPr lang="en-US" sz="2752" strike="noStrike" u="none">
                <a:solidFill>
                  <a:srgbClr val="111111"/>
                </a:solidFill>
                <a:latin typeface="Poppins"/>
                <a:ea typeface="Poppins"/>
                <a:cs typeface="Poppins"/>
                <a:sym typeface="Poppins"/>
              </a:rPr>
              <a:t>AI Recommendation Engine</a:t>
            </a:r>
          </a:p>
        </p:txBody>
      </p:sp>
      <p:sp>
        <p:nvSpPr>
          <p:cNvPr name="TextBox 21" id="21"/>
          <p:cNvSpPr txBox="true"/>
          <p:nvPr/>
        </p:nvSpPr>
        <p:spPr>
          <a:xfrm rot="0">
            <a:off x="0" y="736607"/>
            <a:ext cx="4369500" cy="381464"/>
          </a:xfrm>
          <a:prstGeom prst="rect">
            <a:avLst/>
          </a:prstGeom>
        </p:spPr>
        <p:txBody>
          <a:bodyPr anchor="t" rtlCol="false" tIns="0" lIns="0" bIns="0" rIns="0">
            <a:spAutoFit/>
          </a:bodyPr>
          <a:lstStyle/>
          <a:p>
            <a:pPr algn="l" marL="0" indent="0" lvl="0">
              <a:lnSpc>
                <a:spcPts val="2997"/>
              </a:lnSpc>
              <a:spcBef>
                <a:spcPct val="0"/>
              </a:spcBef>
            </a:pPr>
            <a:r>
              <a:rPr lang="en-US" sz="2140" strike="noStrike" u="none">
                <a:solidFill>
                  <a:srgbClr val="444444"/>
                </a:solidFill>
                <a:latin typeface="Poppins"/>
                <a:ea typeface="Poppins"/>
                <a:cs typeface="Poppins"/>
                <a:sym typeface="Poppins"/>
              </a:rPr>
              <a:t>07.03 - 18.03</a:t>
            </a:r>
          </a:p>
        </p:txBody>
      </p:sp>
      <p:sp>
        <p:nvSpPr>
          <p:cNvPr name="TextBox 22" id="22"/>
          <p:cNvSpPr txBox="true"/>
          <p:nvPr/>
        </p:nvSpPr>
        <p:spPr>
          <a:xfrm rot="0">
            <a:off x="4243061" y="196215"/>
            <a:ext cx="9669934" cy="925645"/>
          </a:xfrm>
          <a:prstGeom prst="rect">
            <a:avLst/>
          </a:prstGeom>
        </p:spPr>
        <p:txBody>
          <a:bodyPr anchor="t" rtlCol="false" tIns="0" lIns="0" bIns="0" rIns="0">
            <a:spAutoFit/>
          </a:bodyPr>
          <a:lstStyle/>
          <a:p>
            <a:pPr algn="ctr" marL="0" indent="0" lvl="0">
              <a:lnSpc>
                <a:spcPts val="5955"/>
              </a:lnSpc>
              <a:spcBef>
                <a:spcPct val="0"/>
              </a:spcBef>
            </a:pPr>
            <a:r>
              <a:rPr lang="en-US" sz="5414" strike="noStrike" u="none">
                <a:solidFill>
                  <a:srgbClr val="111111"/>
                </a:solidFill>
                <a:latin typeface="Agrandir"/>
                <a:ea typeface="Agrandir"/>
                <a:cs typeface="Agrandir"/>
                <a:sym typeface="Agrandir"/>
              </a:rPr>
              <a:t>Sprint Planning</a:t>
            </a:r>
          </a:p>
        </p:txBody>
      </p:sp>
      <p:sp>
        <p:nvSpPr>
          <p:cNvPr name="TextBox 23" id="23"/>
          <p:cNvSpPr txBox="true"/>
          <p:nvPr/>
        </p:nvSpPr>
        <p:spPr>
          <a:xfrm rot="0">
            <a:off x="0" y="96857"/>
            <a:ext cx="11360700" cy="711465"/>
          </a:xfrm>
          <a:prstGeom prst="rect">
            <a:avLst/>
          </a:prstGeom>
        </p:spPr>
        <p:txBody>
          <a:bodyPr anchor="t" rtlCol="false" tIns="0" lIns="0" bIns="0" rIns="0">
            <a:spAutoFit/>
          </a:bodyPr>
          <a:lstStyle/>
          <a:p>
            <a:pPr algn="l" marL="0" indent="0" lvl="0">
              <a:lnSpc>
                <a:spcPts val="4770"/>
              </a:lnSpc>
              <a:spcBef>
                <a:spcPct val="0"/>
              </a:spcBef>
            </a:pPr>
            <a:r>
              <a:rPr lang="en-US" sz="3975" strike="noStrike" u="none">
                <a:solidFill>
                  <a:srgbClr val="FF5400"/>
                </a:solidFill>
                <a:latin typeface="Agrandir"/>
                <a:ea typeface="Agrandir"/>
                <a:cs typeface="Agrandir"/>
                <a:sym typeface="Agrandir"/>
              </a:rPr>
              <a:t>Sprint 3 - Smart Features</a:t>
            </a:r>
          </a:p>
        </p:txBody>
      </p:sp>
      <p:sp>
        <p:nvSpPr>
          <p:cNvPr name="AutoShape 24" id="24"/>
          <p:cNvSpPr/>
          <p:nvPr/>
        </p:nvSpPr>
        <p:spPr>
          <a:xfrm>
            <a:off x="0" y="1667657"/>
            <a:ext cx="291300" cy="0"/>
          </a:xfrm>
          <a:prstGeom prst="line">
            <a:avLst/>
          </a:prstGeom>
          <a:ln cap="rnd" w="28575">
            <a:solidFill>
              <a:srgbClr val="FF5400"/>
            </a:solidFill>
            <a:prstDash val="solid"/>
            <a:headEnd type="none" len="sm" w="sm"/>
            <a:tailEnd type="none" len="sm" w="sm"/>
          </a:ln>
        </p:spPr>
      </p:sp>
      <p:sp>
        <p:nvSpPr>
          <p:cNvPr name="AutoShape 25" id="25"/>
          <p:cNvSpPr/>
          <p:nvPr/>
        </p:nvSpPr>
        <p:spPr>
          <a:xfrm>
            <a:off x="0" y="2395907"/>
            <a:ext cx="291300" cy="0"/>
          </a:xfrm>
          <a:prstGeom prst="line">
            <a:avLst/>
          </a:prstGeom>
          <a:ln cap="rnd" w="28575">
            <a:solidFill>
              <a:srgbClr val="FF5400"/>
            </a:solidFill>
            <a:prstDash val="solid"/>
            <a:headEnd type="none" len="sm" w="sm"/>
            <a:tailEnd type="none" len="sm" w="sm"/>
          </a:ln>
        </p:spPr>
      </p:sp>
      <p:sp>
        <p:nvSpPr>
          <p:cNvPr name="AutoShape 26" id="26"/>
          <p:cNvSpPr/>
          <p:nvPr/>
        </p:nvSpPr>
        <p:spPr>
          <a:xfrm>
            <a:off x="0" y="3124157"/>
            <a:ext cx="291300" cy="0"/>
          </a:xfrm>
          <a:prstGeom prst="line">
            <a:avLst/>
          </a:prstGeom>
          <a:ln cap="rnd" w="28575">
            <a:solidFill>
              <a:srgbClr val="FF5400"/>
            </a:solidFill>
            <a:prstDash val="solid"/>
            <a:headEnd type="none" len="sm" w="sm"/>
            <a:tailEnd type="none" len="sm" w="sm"/>
          </a:ln>
        </p:spPr>
      </p:sp>
      <p:sp>
        <p:nvSpPr>
          <p:cNvPr name="AutoShape 27" id="27"/>
          <p:cNvSpPr/>
          <p:nvPr/>
        </p:nvSpPr>
        <p:spPr>
          <a:xfrm>
            <a:off x="0" y="3852407"/>
            <a:ext cx="291300" cy="0"/>
          </a:xfrm>
          <a:prstGeom prst="line">
            <a:avLst/>
          </a:prstGeom>
          <a:ln cap="rnd" w="28575">
            <a:solidFill>
              <a:srgbClr val="FF5400"/>
            </a:solidFill>
            <a:prstDash val="solid"/>
            <a:headEnd type="none" len="sm" w="sm"/>
            <a:tailEnd type="none" len="sm" w="sm"/>
          </a:ln>
        </p:spPr>
      </p:sp>
      <p:sp>
        <p:nvSpPr>
          <p:cNvPr name="AutoShape 28" id="28"/>
          <p:cNvSpPr/>
          <p:nvPr/>
        </p:nvSpPr>
        <p:spPr>
          <a:xfrm>
            <a:off x="0" y="4580657"/>
            <a:ext cx="291300" cy="0"/>
          </a:xfrm>
          <a:prstGeom prst="line">
            <a:avLst/>
          </a:prstGeom>
          <a:ln cap="rnd" w="28575">
            <a:solidFill>
              <a:srgbClr val="FF5400"/>
            </a:solidFill>
            <a:prstDash val="solid"/>
            <a:headEnd type="none" len="sm" w="sm"/>
            <a:tailEnd type="none" len="sm" w="sm"/>
          </a:ln>
        </p:spPr>
      </p:sp>
      <p:sp>
        <p:nvSpPr>
          <p:cNvPr name="TextBox 29" id="29"/>
          <p:cNvSpPr txBox="true"/>
          <p:nvPr/>
        </p:nvSpPr>
        <p:spPr>
          <a:xfrm rot="0">
            <a:off x="0" y="5485907"/>
            <a:ext cx="11360700" cy="711465"/>
          </a:xfrm>
          <a:prstGeom prst="rect">
            <a:avLst/>
          </a:prstGeom>
        </p:spPr>
        <p:txBody>
          <a:bodyPr anchor="t" rtlCol="false" tIns="0" lIns="0" bIns="0" rIns="0">
            <a:spAutoFit/>
          </a:bodyPr>
          <a:lstStyle/>
          <a:p>
            <a:pPr algn="l" marL="0" indent="0" lvl="0">
              <a:lnSpc>
                <a:spcPts val="4770"/>
              </a:lnSpc>
              <a:spcBef>
                <a:spcPct val="0"/>
              </a:spcBef>
            </a:pPr>
            <a:r>
              <a:rPr lang="en-US" sz="3975" strike="noStrike" u="none">
                <a:solidFill>
                  <a:srgbClr val="FF5400"/>
                </a:solidFill>
                <a:latin typeface="Agrandir"/>
                <a:ea typeface="Agrandir"/>
                <a:cs typeface="Agrandir"/>
                <a:sym typeface="Agrandir"/>
              </a:rPr>
              <a:t>Sprint 4 - Final Development &amp; Testing</a:t>
            </a:r>
          </a:p>
        </p:txBody>
      </p:sp>
      <p:sp>
        <p:nvSpPr>
          <p:cNvPr name="AutoShape 30" id="30"/>
          <p:cNvSpPr/>
          <p:nvPr/>
        </p:nvSpPr>
        <p:spPr>
          <a:xfrm>
            <a:off x="0" y="6838232"/>
            <a:ext cx="291300" cy="0"/>
          </a:xfrm>
          <a:prstGeom prst="line">
            <a:avLst/>
          </a:prstGeom>
          <a:ln cap="rnd" w="28575">
            <a:solidFill>
              <a:srgbClr val="FF5400"/>
            </a:solidFill>
            <a:prstDash val="solid"/>
            <a:headEnd type="none" len="sm" w="sm"/>
            <a:tailEnd type="none" len="sm" w="sm"/>
          </a:ln>
        </p:spPr>
      </p:sp>
      <p:sp>
        <p:nvSpPr>
          <p:cNvPr name="AutoShape 31" id="31"/>
          <p:cNvSpPr/>
          <p:nvPr/>
        </p:nvSpPr>
        <p:spPr>
          <a:xfrm>
            <a:off x="0" y="7566482"/>
            <a:ext cx="291300" cy="0"/>
          </a:xfrm>
          <a:prstGeom prst="line">
            <a:avLst/>
          </a:prstGeom>
          <a:ln cap="rnd" w="28575">
            <a:solidFill>
              <a:srgbClr val="FF5400"/>
            </a:solidFill>
            <a:prstDash val="solid"/>
            <a:headEnd type="none" len="sm" w="sm"/>
            <a:tailEnd type="none" len="sm" w="sm"/>
          </a:ln>
        </p:spPr>
      </p:sp>
      <p:sp>
        <p:nvSpPr>
          <p:cNvPr name="AutoShape 32" id="32"/>
          <p:cNvSpPr/>
          <p:nvPr/>
        </p:nvSpPr>
        <p:spPr>
          <a:xfrm>
            <a:off x="0" y="8294732"/>
            <a:ext cx="291300" cy="0"/>
          </a:xfrm>
          <a:prstGeom prst="line">
            <a:avLst/>
          </a:prstGeom>
          <a:ln cap="rnd" w="28575">
            <a:solidFill>
              <a:srgbClr val="FF5400"/>
            </a:solidFill>
            <a:prstDash val="solid"/>
            <a:headEnd type="none" len="sm" w="sm"/>
            <a:tailEnd type="none" len="sm" w="sm"/>
          </a:ln>
        </p:spPr>
      </p:sp>
      <p:sp>
        <p:nvSpPr>
          <p:cNvPr name="AutoShape 33" id="33"/>
          <p:cNvSpPr/>
          <p:nvPr/>
        </p:nvSpPr>
        <p:spPr>
          <a:xfrm>
            <a:off x="0" y="9022982"/>
            <a:ext cx="291300" cy="0"/>
          </a:xfrm>
          <a:prstGeom prst="line">
            <a:avLst/>
          </a:prstGeom>
          <a:ln cap="rnd" w="28575">
            <a:solidFill>
              <a:srgbClr val="FF5400"/>
            </a:solidFill>
            <a:prstDash val="solid"/>
            <a:headEnd type="none" len="sm" w="sm"/>
            <a:tailEnd type="none" len="sm" w="sm"/>
          </a:ln>
        </p:spPr>
      </p:sp>
      <p:sp>
        <p:nvSpPr>
          <p:cNvPr name="AutoShape 34" id="34"/>
          <p:cNvSpPr/>
          <p:nvPr/>
        </p:nvSpPr>
        <p:spPr>
          <a:xfrm>
            <a:off x="0" y="9751232"/>
            <a:ext cx="291300" cy="0"/>
          </a:xfrm>
          <a:prstGeom prst="line">
            <a:avLst/>
          </a:prstGeom>
          <a:ln cap="rnd" w="28575">
            <a:solidFill>
              <a:srgbClr val="FF5400"/>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148380"/>
            <a:ext cx="18288000" cy="6515100"/>
          </a:xfrm>
          <a:custGeom>
            <a:avLst/>
            <a:gdLst/>
            <a:ahLst/>
            <a:cxnLst/>
            <a:rect r="r" b="b" t="t" l="l"/>
            <a:pathLst>
              <a:path h="6515100" w="18288000">
                <a:moveTo>
                  <a:pt x="0" y="0"/>
                </a:moveTo>
                <a:lnTo>
                  <a:pt x="18288000" y="0"/>
                </a:lnTo>
                <a:lnTo>
                  <a:pt x="18288000" y="6515100"/>
                </a:lnTo>
                <a:lnTo>
                  <a:pt x="0" y="651510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TextBox 8" id="8"/>
          <p:cNvSpPr txBox="true"/>
          <p:nvPr/>
        </p:nvSpPr>
        <p:spPr>
          <a:xfrm rot="0">
            <a:off x="1113759" y="20456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strike="noStrike" u="none">
                <a:solidFill>
                  <a:srgbClr val="111111"/>
                </a:solidFill>
                <a:latin typeface="Agrandir"/>
                <a:ea typeface="Agrandir"/>
                <a:cs typeface="Agrandir"/>
                <a:sym typeface="Agrandir"/>
              </a:rPr>
              <a:t>SCHEDULE AND EFFORT</a:t>
            </a:r>
          </a:p>
        </p:txBody>
      </p:sp>
      <p:sp>
        <p:nvSpPr>
          <p:cNvPr name="AutoShape 9" id="9"/>
          <p:cNvSpPr/>
          <p:nvPr/>
        </p:nvSpPr>
        <p:spPr>
          <a:xfrm>
            <a:off x="6140006" y="1594480"/>
            <a:ext cx="5026247" cy="0"/>
          </a:xfrm>
          <a:prstGeom prst="line">
            <a:avLst/>
          </a:prstGeom>
          <a:ln cap="rnd" w="38100">
            <a:solidFill>
              <a:srgbClr val="FF5400"/>
            </a:solidFill>
            <a:prstDash val="solid"/>
            <a:headEnd type="none" len="sm" w="sm"/>
            <a:tailEnd type="none" len="sm" w="sm"/>
          </a:ln>
        </p:spPr>
      </p:sp>
      <p:sp>
        <p:nvSpPr>
          <p:cNvPr name="TextBox 10" id="10"/>
          <p:cNvSpPr txBox="true"/>
          <p:nvPr/>
        </p:nvSpPr>
        <p:spPr>
          <a:xfrm rot="0">
            <a:off x="2370321" y="1866674"/>
            <a:ext cx="12565618" cy="657662"/>
          </a:xfrm>
          <a:prstGeom prst="rect">
            <a:avLst/>
          </a:prstGeom>
        </p:spPr>
        <p:txBody>
          <a:bodyPr anchor="t" rtlCol="false" tIns="0" lIns="0" bIns="0" rIns="0">
            <a:spAutoFit/>
          </a:bodyPr>
          <a:lstStyle/>
          <a:p>
            <a:pPr algn="ctr" marL="0" indent="0" lvl="0">
              <a:lnSpc>
                <a:spcPts val="4432"/>
              </a:lnSpc>
              <a:spcBef>
                <a:spcPct val="0"/>
              </a:spcBef>
            </a:pPr>
            <a:r>
              <a:rPr lang="en-US" sz="3693" strike="noStrike" u="none">
                <a:solidFill>
                  <a:srgbClr val="FF5400"/>
                </a:solidFill>
                <a:latin typeface="Agrandir"/>
                <a:ea typeface="Agrandir"/>
                <a:cs typeface="Agrandir"/>
                <a:sym typeface="Agrandir"/>
              </a:rPr>
              <a:t>Key Points From the Project Schedule</a:t>
            </a:r>
          </a:p>
        </p:txBody>
      </p:sp>
      <p:grpSp>
        <p:nvGrpSpPr>
          <p:cNvPr name="Group 11" id="11"/>
          <p:cNvGrpSpPr/>
          <p:nvPr/>
        </p:nvGrpSpPr>
        <p:grpSpPr>
          <a:xfrm rot="0">
            <a:off x="359822" y="3454192"/>
            <a:ext cx="175919" cy="175919"/>
            <a:chOff x="0" y="0"/>
            <a:chExt cx="177800" cy="177800"/>
          </a:xfrm>
        </p:grpSpPr>
        <p:sp>
          <p:nvSpPr>
            <p:cNvPr name="Freeform 12" id="1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3" id="13"/>
          <p:cNvSpPr txBox="true"/>
          <p:nvPr/>
        </p:nvSpPr>
        <p:spPr>
          <a:xfrm rot="0">
            <a:off x="862447" y="3277467"/>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strike="noStrike" u="none">
                <a:solidFill>
                  <a:srgbClr val="111111"/>
                </a:solidFill>
                <a:latin typeface="Poppins"/>
                <a:ea typeface="Poppins"/>
                <a:cs typeface="Poppins"/>
                <a:sym typeface="Poppins"/>
              </a:rPr>
              <a:t>Development process divided into 4 structured sprints</a:t>
            </a:r>
          </a:p>
        </p:txBody>
      </p:sp>
      <p:grpSp>
        <p:nvGrpSpPr>
          <p:cNvPr name="Group 14" id="14"/>
          <p:cNvGrpSpPr/>
          <p:nvPr/>
        </p:nvGrpSpPr>
        <p:grpSpPr>
          <a:xfrm rot="0">
            <a:off x="359822" y="4333785"/>
            <a:ext cx="175919" cy="175919"/>
            <a:chOff x="0" y="0"/>
            <a:chExt cx="177800" cy="177800"/>
          </a:xfrm>
        </p:grpSpPr>
        <p:sp>
          <p:nvSpPr>
            <p:cNvPr name="Freeform 15" id="15"/>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6" id="16"/>
          <p:cNvSpPr txBox="true"/>
          <p:nvPr/>
        </p:nvSpPr>
        <p:spPr>
          <a:xfrm rot="0">
            <a:off x="862447" y="4157060"/>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strike="noStrike" u="none">
                <a:solidFill>
                  <a:srgbClr val="111111"/>
                </a:solidFill>
                <a:latin typeface="Poppins"/>
                <a:ea typeface="Poppins"/>
                <a:cs typeface="Poppins"/>
                <a:sym typeface="Poppins"/>
              </a:rPr>
              <a:t>Task dependencies and workflow order were considered</a:t>
            </a:r>
          </a:p>
        </p:txBody>
      </p:sp>
      <p:grpSp>
        <p:nvGrpSpPr>
          <p:cNvPr name="Group 17" id="17"/>
          <p:cNvGrpSpPr/>
          <p:nvPr/>
        </p:nvGrpSpPr>
        <p:grpSpPr>
          <a:xfrm rot="0">
            <a:off x="359822" y="5213378"/>
            <a:ext cx="175919" cy="175919"/>
            <a:chOff x="0" y="0"/>
            <a:chExt cx="177800" cy="177800"/>
          </a:xfrm>
        </p:grpSpPr>
        <p:sp>
          <p:nvSpPr>
            <p:cNvPr name="Freeform 18" id="1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9" id="19"/>
          <p:cNvSpPr txBox="true"/>
          <p:nvPr/>
        </p:nvSpPr>
        <p:spPr>
          <a:xfrm rot="0">
            <a:off x="862447" y="5036653"/>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strike="noStrike" u="none">
                <a:solidFill>
                  <a:srgbClr val="111111"/>
                </a:solidFill>
                <a:latin typeface="Poppins"/>
                <a:ea typeface="Poppins"/>
                <a:cs typeface="Poppins"/>
                <a:sym typeface="Poppins"/>
              </a:rPr>
              <a:t>Project duration: 42 workdays</a:t>
            </a:r>
          </a:p>
        </p:txBody>
      </p:sp>
      <p:grpSp>
        <p:nvGrpSpPr>
          <p:cNvPr name="Group 20" id="20"/>
          <p:cNvGrpSpPr/>
          <p:nvPr/>
        </p:nvGrpSpPr>
        <p:grpSpPr>
          <a:xfrm rot="0">
            <a:off x="359822" y="6092972"/>
            <a:ext cx="175919" cy="175919"/>
            <a:chOff x="0" y="0"/>
            <a:chExt cx="177800" cy="177800"/>
          </a:xfrm>
        </p:grpSpPr>
        <p:sp>
          <p:nvSpPr>
            <p:cNvPr name="Freeform 21" id="21"/>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2" id="22"/>
          <p:cNvSpPr txBox="true"/>
          <p:nvPr/>
        </p:nvSpPr>
        <p:spPr>
          <a:xfrm rot="0">
            <a:off x="862447" y="5916247"/>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strike="noStrike" u="none">
                <a:solidFill>
                  <a:srgbClr val="111111"/>
                </a:solidFill>
                <a:latin typeface="Poppins"/>
                <a:ea typeface="Poppins"/>
                <a:cs typeface="Poppins"/>
                <a:sym typeface="Poppins"/>
              </a:rPr>
              <a:t>Timeline: 16 February 2026 – 30 March 2026</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TextBox 8" id="8"/>
          <p:cNvSpPr txBox="true"/>
          <p:nvPr/>
        </p:nvSpPr>
        <p:spPr>
          <a:xfrm rot="0">
            <a:off x="1113759" y="20456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PROJECT RİSKS</a:t>
            </a:r>
          </a:p>
        </p:txBody>
      </p:sp>
      <p:sp>
        <p:nvSpPr>
          <p:cNvPr name="AutoShape 9" id="9"/>
          <p:cNvSpPr/>
          <p:nvPr/>
        </p:nvSpPr>
        <p:spPr>
          <a:xfrm>
            <a:off x="6140006" y="1594480"/>
            <a:ext cx="5026247" cy="0"/>
          </a:xfrm>
          <a:prstGeom prst="line">
            <a:avLst/>
          </a:prstGeom>
          <a:ln cap="rnd" w="38100">
            <a:solidFill>
              <a:srgbClr val="FF5400"/>
            </a:solidFill>
            <a:prstDash val="solid"/>
            <a:headEnd type="none" len="sm" w="sm"/>
            <a:tailEnd type="none" len="sm" w="sm"/>
          </a:ln>
        </p:spPr>
      </p:sp>
      <p:sp>
        <p:nvSpPr>
          <p:cNvPr name="TextBox 10" id="10"/>
          <p:cNvSpPr txBox="true"/>
          <p:nvPr/>
        </p:nvSpPr>
        <p:spPr>
          <a:xfrm rot="0">
            <a:off x="2370321" y="1866674"/>
            <a:ext cx="12565618" cy="657662"/>
          </a:xfrm>
          <a:prstGeom prst="rect">
            <a:avLst/>
          </a:prstGeom>
        </p:spPr>
        <p:txBody>
          <a:bodyPr anchor="t" rtlCol="false" tIns="0" lIns="0" bIns="0" rIns="0">
            <a:spAutoFit/>
          </a:bodyPr>
          <a:lstStyle/>
          <a:p>
            <a:pPr algn="ctr" marL="0" indent="0" lvl="0">
              <a:lnSpc>
                <a:spcPts val="4432"/>
              </a:lnSpc>
              <a:spcBef>
                <a:spcPct val="0"/>
              </a:spcBef>
            </a:pPr>
            <a:r>
              <a:rPr lang="en-US" sz="3693">
                <a:solidFill>
                  <a:srgbClr val="FF5400"/>
                </a:solidFill>
                <a:latin typeface="Agrandir"/>
                <a:ea typeface="Agrandir"/>
                <a:cs typeface="Agrandir"/>
                <a:sym typeface="Agrandir"/>
              </a:rPr>
              <a:t>Why We Analyze Risks?</a:t>
            </a:r>
          </a:p>
        </p:txBody>
      </p:sp>
      <p:grpSp>
        <p:nvGrpSpPr>
          <p:cNvPr name="Group 11" id="11"/>
          <p:cNvGrpSpPr/>
          <p:nvPr/>
        </p:nvGrpSpPr>
        <p:grpSpPr>
          <a:xfrm rot="0">
            <a:off x="359822" y="3454192"/>
            <a:ext cx="175919" cy="175919"/>
            <a:chOff x="0" y="0"/>
            <a:chExt cx="177800" cy="177800"/>
          </a:xfrm>
        </p:grpSpPr>
        <p:sp>
          <p:nvSpPr>
            <p:cNvPr name="Freeform 12" id="1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3" id="13"/>
          <p:cNvSpPr txBox="true"/>
          <p:nvPr/>
        </p:nvSpPr>
        <p:spPr>
          <a:xfrm rot="0">
            <a:off x="862447" y="3277467"/>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To ensure platform reliability and data quality</a:t>
            </a:r>
          </a:p>
        </p:txBody>
      </p:sp>
      <p:grpSp>
        <p:nvGrpSpPr>
          <p:cNvPr name="Group 14" id="14"/>
          <p:cNvGrpSpPr/>
          <p:nvPr/>
        </p:nvGrpSpPr>
        <p:grpSpPr>
          <a:xfrm rot="0">
            <a:off x="359822" y="4333785"/>
            <a:ext cx="175919" cy="175919"/>
            <a:chOff x="0" y="0"/>
            <a:chExt cx="177800" cy="177800"/>
          </a:xfrm>
        </p:grpSpPr>
        <p:sp>
          <p:nvSpPr>
            <p:cNvPr name="Freeform 15" id="15"/>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6" id="16"/>
          <p:cNvSpPr txBox="true"/>
          <p:nvPr/>
        </p:nvSpPr>
        <p:spPr>
          <a:xfrm rot="0">
            <a:off x="862447" y="4157060"/>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To identify technical, security, and operational threats</a:t>
            </a:r>
          </a:p>
        </p:txBody>
      </p:sp>
      <p:grpSp>
        <p:nvGrpSpPr>
          <p:cNvPr name="Group 17" id="17"/>
          <p:cNvGrpSpPr/>
          <p:nvPr/>
        </p:nvGrpSpPr>
        <p:grpSpPr>
          <a:xfrm rot="0">
            <a:off x="359822" y="5213378"/>
            <a:ext cx="175919" cy="175919"/>
            <a:chOff x="0" y="0"/>
            <a:chExt cx="177800" cy="177800"/>
          </a:xfrm>
        </p:grpSpPr>
        <p:sp>
          <p:nvSpPr>
            <p:cNvPr name="Freeform 18" id="1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9" id="19"/>
          <p:cNvSpPr txBox="true"/>
          <p:nvPr/>
        </p:nvSpPr>
        <p:spPr>
          <a:xfrm rot="0">
            <a:off x="862447" y="5036653"/>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To prepare proactive solutions before problems affect users</a:t>
            </a:r>
          </a:p>
        </p:txBody>
      </p:sp>
      <p:grpSp>
        <p:nvGrpSpPr>
          <p:cNvPr name="Group 20" id="20"/>
          <p:cNvGrpSpPr/>
          <p:nvPr/>
        </p:nvGrpSpPr>
        <p:grpSpPr>
          <a:xfrm rot="0">
            <a:off x="359822" y="6092972"/>
            <a:ext cx="175919" cy="175919"/>
            <a:chOff x="0" y="0"/>
            <a:chExt cx="177800" cy="177800"/>
          </a:xfrm>
        </p:grpSpPr>
        <p:sp>
          <p:nvSpPr>
            <p:cNvPr name="Freeform 21" id="21"/>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2" id="22"/>
          <p:cNvSpPr txBox="true"/>
          <p:nvPr/>
        </p:nvSpPr>
        <p:spPr>
          <a:xfrm rot="0">
            <a:off x="862447" y="5916247"/>
            <a:ext cx="15078741" cy="51767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To improve user satisfaction and overall system performance</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TextBox 8" id="8"/>
          <p:cNvSpPr txBox="true"/>
          <p:nvPr/>
        </p:nvSpPr>
        <p:spPr>
          <a:xfrm rot="0">
            <a:off x="1113759" y="20456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HIGH-PRIORITY RISKS</a:t>
            </a:r>
          </a:p>
        </p:txBody>
      </p:sp>
      <p:sp>
        <p:nvSpPr>
          <p:cNvPr name="AutoShape 9" id="9"/>
          <p:cNvSpPr/>
          <p:nvPr/>
        </p:nvSpPr>
        <p:spPr>
          <a:xfrm>
            <a:off x="6140006" y="1594480"/>
            <a:ext cx="5026247" cy="0"/>
          </a:xfrm>
          <a:prstGeom prst="line">
            <a:avLst/>
          </a:prstGeom>
          <a:ln cap="rnd" w="38100">
            <a:solidFill>
              <a:srgbClr val="FF5400"/>
            </a:solidFill>
            <a:prstDash val="solid"/>
            <a:headEnd type="none" len="sm" w="sm"/>
            <a:tailEnd type="none" len="sm" w="sm"/>
          </a:ln>
        </p:spPr>
      </p:sp>
      <p:sp>
        <p:nvSpPr>
          <p:cNvPr name="TextBox 10" id="10"/>
          <p:cNvSpPr txBox="true"/>
          <p:nvPr/>
        </p:nvSpPr>
        <p:spPr>
          <a:xfrm rot="0">
            <a:off x="2370321" y="1866674"/>
            <a:ext cx="12565618" cy="657662"/>
          </a:xfrm>
          <a:prstGeom prst="rect">
            <a:avLst/>
          </a:prstGeom>
        </p:spPr>
        <p:txBody>
          <a:bodyPr anchor="t" rtlCol="false" tIns="0" lIns="0" bIns="0" rIns="0">
            <a:spAutoFit/>
          </a:bodyPr>
          <a:lstStyle/>
          <a:p>
            <a:pPr algn="ctr" marL="0" indent="0" lvl="0">
              <a:lnSpc>
                <a:spcPts val="4432"/>
              </a:lnSpc>
              <a:spcBef>
                <a:spcPct val="0"/>
              </a:spcBef>
            </a:pPr>
            <a:r>
              <a:rPr lang="en-US" sz="3693">
                <a:solidFill>
                  <a:srgbClr val="FF5400"/>
                </a:solidFill>
                <a:latin typeface="Agrandir"/>
                <a:ea typeface="Agrandir"/>
                <a:cs typeface="Agrandir"/>
                <a:sym typeface="Agrandir"/>
              </a:rPr>
              <a:t>Top Risks Identified</a:t>
            </a:r>
          </a:p>
        </p:txBody>
      </p:sp>
      <p:grpSp>
        <p:nvGrpSpPr>
          <p:cNvPr name="Group 11" id="11"/>
          <p:cNvGrpSpPr/>
          <p:nvPr/>
        </p:nvGrpSpPr>
        <p:grpSpPr>
          <a:xfrm rot="0">
            <a:off x="336303" y="3009324"/>
            <a:ext cx="175919" cy="175919"/>
            <a:chOff x="0" y="0"/>
            <a:chExt cx="177800" cy="177800"/>
          </a:xfrm>
        </p:grpSpPr>
        <p:sp>
          <p:nvSpPr>
            <p:cNvPr name="Freeform 12" id="1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3" id="13"/>
          <p:cNvSpPr txBox="true"/>
          <p:nvPr/>
        </p:nvSpPr>
        <p:spPr>
          <a:xfrm rot="0">
            <a:off x="862447" y="2542753"/>
            <a:ext cx="15078741" cy="103286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Inconsistent Data Sources: Data from different sources may be incompatible or inconsistent.</a:t>
            </a:r>
          </a:p>
        </p:txBody>
      </p:sp>
      <p:grpSp>
        <p:nvGrpSpPr>
          <p:cNvPr name="Group 14" id="14"/>
          <p:cNvGrpSpPr/>
          <p:nvPr/>
        </p:nvGrpSpPr>
        <p:grpSpPr>
          <a:xfrm rot="0">
            <a:off x="359822" y="4111351"/>
            <a:ext cx="175919" cy="175919"/>
            <a:chOff x="0" y="0"/>
            <a:chExt cx="177800" cy="177800"/>
          </a:xfrm>
        </p:grpSpPr>
        <p:sp>
          <p:nvSpPr>
            <p:cNvPr name="Freeform 15" id="15"/>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6" id="16"/>
          <p:cNvSpPr txBox="true"/>
          <p:nvPr/>
        </p:nvSpPr>
        <p:spPr>
          <a:xfrm rot="0">
            <a:off x="862447" y="3679521"/>
            <a:ext cx="15078741" cy="103286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Opportunity Normalization Failure: Data cannot be standardized into a common usable format.</a:t>
            </a:r>
          </a:p>
        </p:txBody>
      </p:sp>
      <p:grpSp>
        <p:nvGrpSpPr>
          <p:cNvPr name="Group 17" id="17"/>
          <p:cNvGrpSpPr/>
          <p:nvPr/>
        </p:nvGrpSpPr>
        <p:grpSpPr>
          <a:xfrm rot="0">
            <a:off x="359822" y="5213378"/>
            <a:ext cx="175919" cy="175919"/>
            <a:chOff x="0" y="0"/>
            <a:chExt cx="177800" cy="177800"/>
          </a:xfrm>
        </p:grpSpPr>
        <p:sp>
          <p:nvSpPr>
            <p:cNvPr name="Freeform 18" id="1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9" id="19"/>
          <p:cNvSpPr txBox="true"/>
          <p:nvPr/>
        </p:nvSpPr>
        <p:spPr>
          <a:xfrm rot="0">
            <a:off x="862447" y="4779058"/>
            <a:ext cx="15078741" cy="103286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AI Recommendation Inaccuracy:</a:t>
            </a:r>
            <a:r>
              <a:rPr lang="en-US" sz="2902">
                <a:solidFill>
                  <a:srgbClr val="111111"/>
                </a:solidFill>
                <a:latin typeface="Poppins"/>
                <a:ea typeface="Poppins"/>
                <a:cs typeface="Poppins"/>
                <a:sym typeface="Poppins"/>
              </a:rPr>
              <a:t> The AI system may suggest irrelevant opportunities.</a:t>
            </a:r>
          </a:p>
        </p:txBody>
      </p:sp>
      <p:grpSp>
        <p:nvGrpSpPr>
          <p:cNvPr name="Group 20" id="20"/>
          <p:cNvGrpSpPr/>
          <p:nvPr/>
        </p:nvGrpSpPr>
        <p:grpSpPr>
          <a:xfrm rot="0">
            <a:off x="359822" y="6208447"/>
            <a:ext cx="175919" cy="175919"/>
            <a:chOff x="0" y="0"/>
            <a:chExt cx="177800" cy="177800"/>
          </a:xfrm>
        </p:grpSpPr>
        <p:sp>
          <p:nvSpPr>
            <p:cNvPr name="Freeform 21" id="21"/>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2" id="22"/>
          <p:cNvSpPr txBox="true"/>
          <p:nvPr/>
        </p:nvSpPr>
        <p:spPr>
          <a:xfrm rot="0">
            <a:off x="862447" y="5882012"/>
            <a:ext cx="15078741" cy="1032862"/>
          </a:xfrm>
          <a:prstGeom prst="rect">
            <a:avLst/>
          </a:prstGeom>
        </p:spPr>
        <p:txBody>
          <a:bodyPr anchor="t" rtlCol="false" tIns="0" lIns="0" bIns="0" rIns="0">
            <a:spAutoFit/>
          </a:bodyPr>
          <a:lstStyle/>
          <a:p>
            <a:pPr algn="l" marL="0" indent="0" lvl="0">
              <a:lnSpc>
                <a:spcPts val="4063"/>
              </a:lnSpc>
              <a:spcBef>
                <a:spcPct val="0"/>
              </a:spcBef>
            </a:pPr>
            <a:r>
              <a:rPr lang="en-US" sz="2902">
                <a:solidFill>
                  <a:srgbClr val="111111"/>
                </a:solidFill>
                <a:latin typeface="Poppins"/>
                <a:ea typeface="Poppins"/>
                <a:cs typeface="Poppins"/>
                <a:sym typeface="Poppins"/>
              </a:rPr>
              <a:t>Duplicate Detection Complexity:</a:t>
            </a:r>
            <a:r>
              <a:rPr lang="en-US" sz="2902">
                <a:solidFill>
                  <a:srgbClr val="111111"/>
                </a:solidFill>
                <a:latin typeface="Poppins"/>
                <a:ea typeface="Poppins"/>
                <a:cs typeface="Poppins"/>
                <a:sym typeface="Poppins"/>
              </a:rPr>
              <a:t> Same opportunity may appear differently across sources.</a:t>
            </a:r>
          </a:p>
        </p:txBody>
      </p:sp>
      <p:grpSp>
        <p:nvGrpSpPr>
          <p:cNvPr name="Group 23" id="23"/>
          <p:cNvGrpSpPr/>
          <p:nvPr/>
        </p:nvGrpSpPr>
        <p:grpSpPr>
          <a:xfrm rot="0">
            <a:off x="336303" y="7279409"/>
            <a:ext cx="175919" cy="175919"/>
            <a:chOff x="0" y="0"/>
            <a:chExt cx="177800" cy="177800"/>
          </a:xfrm>
        </p:grpSpPr>
        <p:sp>
          <p:nvSpPr>
            <p:cNvPr name="Freeform 24" id="24"/>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5" id="25"/>
          <p:cNvSpPr txBox="true"/>
          <p:nvPr/>
        </p:nvSpPr>
        <p:spPr>
          <a:xfrm rot="0">
            <a:off x="21473" y="7097767"/>
            <a:ext cx="14914465" cy="472529"/>
          </a:xfrm>
          <a:prstGeom prst="rect">
            <a:avLst/>
          </a:prstGeom>
        </p:spPr>
        <p:txBody>
          <a:bodyPr anchor="t" rtlCol="false" tIns="0" lIns="0" bIns="0" rIns="0">
            <a:spAutoFit/>
          </a:bodyPr>
          <a:lstStyle/>
          <a:p>
            <a:pPr algn="ctr">
              <a:lnSpc>
                <a:spcPts val="3742"/>
              </a:lnSpc>
              <a:spcBef>
                <a:spcPct val="0"/>
              </a:spcBef>
            </a:pPr>
            <a:r>
              <a:rPr lang="en-US" sz="2673">
                <a:solidFill>
                  <a:srgbClr val="000000"/>
                </a:solidFill>
                <a:latin typeface="Poppins"/>
                <a:ea typeface="Poppins"/>
                <a:cs typeface="Poppins"/>
                <a:sym typeface="Poppins"/>
              </a:rPr>
              <a:t>Performance &amp; Scalability Issues: System may slow down under high user load.</a:t>
            </a:r>
          </a:p>
        </p:txBody>
      </p:sp>
      <p:grpSp>
        <p:nvGrpSpPr>
          <p:cNvPr name="Group 26" id="26"/>
          <p:cNvGrpSpPr/>
          <p:nvPr/>
        </p:nvGrpSpPr>
        <p:grpSpPr>
          <a:xfrm rot="0">
            <a:off x="359822" y="8174923"/>
            <a:ext cx="175919" cy="175919"/>
            <a:chOff x="0" y="0"/>
            <a:chExt cx="177800" cy="177800"/>
          </a:xfrm>
        </p:grpSpPr>
        <p:sp>
          <p:nvSpPr>
            <p:cNvPr name="Freeform 27" id="27"/>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8" id="28"/>
          <p:cNvSpPr txBox="true"/>
          <p:nvPr/>
        </p:nvSpPr>
        <p:spPr>
          <a:xfrm rot="0">
            <a:off x="700576" y="7966367"/>
            <a:ext cx="16192500" cy="516832"/>
          </a:xfrm>
          <a:prstGeom prst="rect">
            <a:avLst/>
          </a:prstGeom>
        </p:spPr>
        <p:txBody>
          <a:bodyPr anchor="t" rtlCol="false" tIns="0" lIns="0" bIns="0" rIns="0">
            <a:spAutoFit/>
          </a:bodyPr>
          <a:lstStyle/>
          <a:p>
            <a:pPr algn="ctr">
              <a:lnSpc>
                <a:spcPts val="4063"/>
              </a:lnSpc>
              <a:spcBef>
                <a:spcPct val="0"/>
              </a:spcBef>
            </a:pPr>
            <a:r>
              <a:rPr lang="en-US" sz="2902">
                <a:solidFill>
                  <a:srgbClr val="000000"/>
                </a:solidFill>
                <a:latin typeface="Poppins"/>
                <a:ea typeface="Poppins"/>
                <a:cs typeface="Poppins"/>
                <a:sym typeface="Poppins"/>
              </a:rPr>
              <a:t>Inco</a:t>
            </a:r>
            <a:r>
              <a:rPr lang="en-US" sz="2902">
                <a:solidFill>
                  <a:srgbClr val="000000"/>
                </a:solidFill>
                <a:latin typeface="Poppins"/>
                <a:ea typeface="Poppins"/>
                <a:cs typeface="Poppins"/>
                <a:sym typeface="Poppins"/>
              </a:rPr>
              <a:t>rrect Opportunity Matching: System may incorrectly merge different opportunities.</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AutoShape 8" id="8"/>
          <p:cNvSpPr/>
          <p:nvPr/>
        </p:nvSpPr>
        <p:spPr>
          <a:xfrm>
            <a:off x="6140006" y="1594480"/>
            <a:ext cx="5026247" cy="0"/>
          </a:xfrm>
          <a:prstGeom prst="line">
            <a:avLst/>
          </a:prstGeom>
          <a:ln cap="rnd" w="38100">
            <a:solidFill>
              <a:srgbClr val="FF5400"/>
            </a:solidFill>
            <a:prstDash val="solid"/>
            <a:headEnd type="none" len="sm" w="sm"/>
            <a:tailEnd type="none" len="sm" w="sm"/>
          </a:ln>
        </p:spPr>
      </p:sp>
      <p:grpSp>
        <p:nvGrpSpPr>
          <p:cNvPr name="Group 9" id="9"/>
          <p:cNvGrpSpPr/>
          <p:nvPr/>
        </p:nvGrpSpPr>
        <p:grpSpPr>
          <a:xfrm rot="0">
            <a:off x="1800779" y="3827102"/>
            <a:ext cx="175919" cy="175919"/>
            <a:chOff x="0" y="0"/>
            <a:chExt cx="177800" cy="177800"/>
          </a:xfrm>
        </p:grpSpPr>
        <p:sp>
          <p:nvSpPr>
            <p:cNvPr name="Freeform 10" id="1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grpSp>
        <p:nvGrpSpPr>
          <p:cNvPr name="Group 11" id="11"/>
          <p:cNvGrpSpPr/>
          <p:nvPr/>
        </p:nvGrpSpPr>
        <p:grpSpPr>
          <a:xfrm rot="0">
            <a:off x="8957466" y="6393854"/>
            <a:ext cx="175919" cy="175919"/>
            <a:chOff x="0" y="0"/>
            <a:chExt cx="177800" cy="177800"/>
          </a:xfrm>
        </p:grpSpPr>
        <p:sp>
          <p:nvSpPr>
            <p:cNvPr name="Freeform 12" id="1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grpSp>
        <p:nvGrpSpPr>
          <p:cNvPr name="Group 13" id="13"/>
          <p:cNvGrpSpPr/>
          <p:nvPr/>
        </p:nvGrpSpPr>
        <p:grpSpPr>
          <a:xfrm rot="0">
            <a:off x="2562705" y="7816960"/>
            <a:ext cx="175919" cy="175919"/>
            <a:chOff x="0" y="0"/>
            <a:chExt cx="177800" cy="177800"/>
          </a:xfrm>
        </p:grpSpPr>
        <p:sp>
          <p:nvSpPr>
            <p:cNvPr name="Freeform 14" id="14"/>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grpSp>
        <p:nvGrpSpPr>
          <p:cNvPr name="Group 15" id="15"/>
          <p:cNvGrpSpPr/>
          <p:nvPr/>
        </p:nvGrpSpPr>
        <p:grpSpPr>
          <a:xfrm rot="0">
            <a:off x="2560267" y="6420725"/>
            <a:ext cx="175919" cy="175919"/>
            <a:chOff x="0" y="0"/>
            <a:chExt cx="177800" cy="177800"/>
          </a:xfrm>
        </p:grpSpPr>
        <p:sp>
          <p:nvSpPr>
            <p:cNvPr name="Freeform 16" id="16"/>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17" id="17"/>
          <p:cNvSpPr txBox="true"/>
          <p:nvPr/>
        </p:nvSpPr>
        <p:spPr>
          <a:xfrm rot="0">
            <a:off x="1257456" y="28221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SOFTWARE TOOLS</a:t>
            </a:r>
          </a:p>
        </p:txBody>
      </p:sp>
      <p:sp>
        <p:nvSpPr>
          <p:cNvPr name="TextBox 18" id="18"/>
          <p:cNvSpPr txBox="true"/>
          <p:nvPr/>
        </p:nvSpPr>
        <p:spPr>
          <a:xfrm rot="0">
            <a:off x="5477917" y="1832618"/>
            <a:ext cx="7332166" cy="559377"/>
          </a:xfrm>
          <a:prstGeom prst="rect">
            <a:avLst/>
          </a:prstGeom>
        </p:spPr>
        <p:txBody>
          <a:bodyPr anchor="t" rtlCol="false" tIns="0" lIns="0" bIns="0" rIns="0">
            <a:spAutoFit/>
          </a:bodyPr>
          <a:lstStyle/>
          <a:p>
            <a:pPr algn="ctr">
              <a:lnSpc>
                <a:spcPts val="4343"/>
              </a:lnSpc>
              <a:spcBef>
                <a:spcPct val="0"/>
              </a:spcBef>
            </a:pPr>
            <a:r>
              <a:rPr lang="en-US" b="true" sz="3102">
                <a:solidFill>
                  <a:srgbClr val="111111"/>
                </a:solidFill>
                <a:latin typeface="Poppins Bold"/>
                <a:ea typeface="Poppins Bold"/>
                <a:cs typeface="Poppins Bold"/>
                <a:sym typeface="Poppins Bold"/>
              </a:rPr>
              <a:t>“Technolo</a:t>
            </a:r>
            <a:r>
              <a:rPr lang="en-US" b="true" sz="3102">
                <a:solidFill>
                  <a:srgbClr val="111111"/>
                </a:solidFill>
                <a:latin typeface="Poppins Bold"/>
                <a:ea typeface="Poppins Bold"/>
                <a:cs typeface="Poppins Bold"/>
                <a:sym typeface="Poppins Bold"/>
              </a:rPr>
              <a:t>gy Stack &amp; Tool Selection”</a:t>
            </a:r>
          </a:p>
        </p:txBody>
      </p:sp>
      <p:sp>
        <p:nvSpPr>
          <p:cNvPr name="TextBox 19" id="19"/>
          <p:cNvSpPr txBox="true"/>
          <p:nvPr/>
        </p:nvSpPr>
        <p:spPr>
          <a:xfrm rot="0">
            <a:off x="842166" y="3581497"/>
            <a:ext cx="16230600" cy="154553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Different software tools were evalu</a:t>
            </a:r>
            <a:r>
              <a:rPr lang="en-US" sz="2902">
                <a:solidFill>
                  <a:srgbClr val="111111"/>
                </a:solidFill>
                <a:latin typeface="Poppins"/>
                <a:ea typeface="Poppins"/>
                <a:cs typeface="Poppins"/>
                <a:sym typeface="Poppins"/>
              </a:rPr>
              <a:t>ated for each system component.</a:t>
            </a:r>
          </a:p>
          <a:p>
            <a:pPr algn="ctr">
              <a:lnSpc>
                <a:spcPts val="4063"/>
              </a:lnSpc>
              <a:spcBef>
                <a:spcPct val="0"/>
              </a:spcBef>
            </a:pPr>
            <a:r>
              <a:rPr lang="en-US" sz="2902">
                <a:solidFill>
                  <a:srgbClr val="111111"/>
                </a:solidFill>
                <a:latin typeface="Poppins"/>
                <a:ea typeface="Poppins"/>
                <a:cs typeface="Poppins"/>
                <a:sym typeface="Poppins"/>
              </a:rPr>
              <a:t>The selected technologies were chosen based on functionality, cost, scalability, integration capability, and ease of development.</a:t>
            </a:r>
          </a:p>
        </p:txBody>
      </p:sp>
      <p:sp>
        <p:nvSpPr>
          <p:cNvPr name="TextBox 20" id="20"/>
          <p:cNvSpPr txBox="true"/>
          <p:nvPr/>
        </p:nvSpPr>
        <p:spPr>
          <a:xfrm rot="0">
            <a:off x="3091049" y="6167771"/>
            <a:ext cx="2677864" cy="51683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Cos</a:t>
            </a:r>
            <a:r>
              <a:rPr lang="en-US" sz="2902">
                <a:solidFill>
                  <a:srgbClr val="111111"/>
                </a:solidFill>
                <a:latin typeface="Poppins"/>
                <a:ea typeface="Poppins"/>
                <a:cs typeface="Poppins"/>
                <a:sym typeface="Poppins"/>
              </a:rPr>
              <a:t>t Efficiency</a:t>
            </a:r>
          </a:p>
        </p:txBody>
      </p:sp>
      <p:sp>
        <p:nvSpPr>
          <p:cNvPr name="TextBox 21" id="21"/>
          <p:cNvSpPr txBox="true"/>
          <p:nvPr/>
        </p:nvSpPr>
        <p:spPr>
          <a:xfrm rot="0">
            <a:off x="3091049" y="7608404"/>
            <a:ext cx="1892052" cy="51683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Sc</a:t>
            </a:r>
            <a:r>
              <a:rPr lang="en-US" sz="2902">
                <a:solidFill>
                  <a:srgbClr val="111111"/>
                </a:solidFill>
                <a:latin typeface="Poppins"/>
                <a:ea typeface="Poppins"/>
                <a:cs typeface="Poppins"/>
                <a:sym typeface="Poppins"/>
              </a:rPr>
              <a:t>alability</a:t>
            </a:r>
          </a:p>
        </p:txBody>
      </p:sp>
      <p:grpSp>
        <p:nvGrpSpPr>
          <p:cNvPr name="Group 22" id="22"/>
          <p:cNvGrpSpPr/>
          <p:nvPr/>
        </p:nvGrpSpPr>
        <p:grpSpPr>
          <a:xfrm rot="0">
            <a:off x="9056041" y="7816960"/>
            <a:ext cx="175919" cy="175919"/>
            <a:chOff x="0" y="0"/>
            <a:chExt cx="177800" cy="177800"/>
          </a:xfrm>
        </p:grpSpPr>
        <p:sp>
          <p:nvSpPr>
            <p:cNvPr name="Freeform 23" id="23"/>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FF5400"/>
            </a:solidFill>
          </p:spPr>
        </p:sp>
      </p:grpSp>
      <p:sp>
        <p:nvSpPr>
          <p:cNvPr name="TextBox 24" id="24"/>
          <p:cNvSpPr txBox="true"/>
          <p:nvPr/>
        </p:nvSpPr>
        <p:spPr>
          <a:xfrm rot="0">
            <a:off x="9393202" y="6167771"/>
            <a:ext cx="2021830" cy="51683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Integration</a:t>
            </a:r>
          </a:p>
        </p:txBody>
      </p:sp>
      <p:sp>
        <p:nvSpPr>
          <p:cNvPr name="TextBox 25" id="25"/>
          <p:cNvSpPr txBox="true"/>
          <p:nvPr/>
        </p:nvSpPr>
        <p:spPr>
          <a:xfrm rot="0">
            <a:off x="9393202" y="7608404"/>
            <a:ext cx="2350145" cy="51683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Functionality</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AutoShape 8" id="8"/>
          <p:cNvSpPr/>
          <p:nvPr/>
        </p:nvSpPr>
        <p:spPr>
          <a:xfrm>
            <a:off x="6140006" y="1594480"/>
            <a:ext cx="5026247" cy="0"/>
          </a:xfrm>
          <a:prstGeom prst="line">
            <a:avLst/>
          </a:prstGeom>
          <a:ln cap="rnd" w="38100">
            <a:solidFill>
              <a:srgbClr val="FF5400"/>
            </a:solidFill>
            <a:prstDash val="solid"/>
            <a:headEnd type="none" len="sm" w="sm"/>
            <a:tailEnd type="none" len="sm" w="sm"/>
          </a:ln>
        </p:spPr>
      </p:sp>
      <p:graphicFrame>
        <p:nvGraphicFramePr>
          <p:cNvPr name="Table 9" id="9"/>
          <p:cNvGraphicFramePr>
            <a:graphicFrameLocks noGrp="true"/>
          </p:cNvGraphicFramePr>
          <p:nvPr/>
        </p:nvGraphicFramePr>
        <p:xfrm>
          <a:off x="1257456" y="3122367"/>
          <a:ext cx="16258084" cy="4815086"/>
        </p:xfrm>
        <a:graphic>
          <a:graphicData uri="http://schemas.openxmlformats.org/drawingml/2006/table">
            <a:tbl>
              <a:tblPr/>
              <a:tblGrid>
                <a:gridCol w="8129042"/>
                <a:gridCol w="8129042"/>
              </a:tblGrid>
              <a:tr h="1148089">
                <a:tc>
                  <a:txBody>
                    <a:bodyPr anchor="t" rtlCol="false"/>
                    <a:lstStyle/>
                    <a:p>
                      <a:pPr algn="ctr">
                        <a:lnSpc>
                          <a:spcPts val="2575"/>
                        </a:lnSpc>
                        <a:defRPr/>
                      </a:pPr>
                      <a:r>
                        <a:rPr lang="en-US" sz="1839" b="true">
                          <a:solidFill>
                            <a:srgbClr val="000000"/>
                          </a:solidFill>
                          <a:latin typeface="Helvetica Now Display Bold"/>
                          <a:ea typeface="Helvetica Now Display Bold"/>
                          <a:cs typeface="Helvetica Now Display Bold"/>
                          <a:sym typeface="Helvetica Now Display Bold"/>
                        </a:rPr>
                        <a:t>Development of the Mobile App Using Flutter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75"/>
                        </a:lnSpc>
                        <a:defRPr/>
                      </a:pPr>
                      <a:r>
                        <a:rPr lang="en-US" sz="1839" b="true">
                          <a:solidFill>
                            <a:srgbClr val="000000"/>
                          </a:solidFill>
                          <a:latin typeface="Helvetica Now Display Bold"/>
                          <a:ea typeface="Helvetica Now Display Bold"/>
                          <a:cs typeface="Helvetica Now Display Bold"/>
                          <a:sym typeface="Helvetica Now Display Bold"/>
                        </a:rPr>
                        <a:t>Android Studio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32">
                <a:tc>
                  <a:txBody>
                    <a:bodyPr anchor="t" rtlCol="false"/>
                    <a:lstStyle/>
                    <a:p>
                      <a:pPr algn="ctr">
                        <a:lnSpc>
                          <a:spcPts val="2575"/>
                        </a:lnSpc>
                        <a:defRPr/>
                      </a:pPr>
                      <a:r>
                        <a:rPr lang="en-US" sz="1839" b="true">
                          <a:solidFill>
                            <a:srgbClr val="000000"/>
                          </a:solidFill>
                          <a:latin typeface="Helvetica Now Display Bold"/>
                          <a:ea typeface="Helvetica Now Display Bold"/>
                          <a:cs typeface="Helvetica Now Display Bold"/>
                          <a:sym typeface="Helvetica Now Display Bold"/>
                        </a:rPr>
                        <a:t>Database Management System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75"/>
                        </a:lnSpc>
                        <a:defRPr/>
                      </a:pPr>
                      <a:r>
                        <a:rPr lang="en-US" sz="1839">
                          <a:solidFill>
                            <a:srgbClr val="000000"/>
                          </a:solidFill>
                          <a:latin typeface="Helvetica Now Display"/>
                          <a:ea typeface="Helvetica Now Display"/>
                          <a:cs typeface="Helvetica Now Display"/>
                          <a:sym typeface="Helvetica Now Display"/>
                        </a:rPr>
                        <a:t>PostgreSQL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32">
                <a:tc>
                  <a:txBody>
                    <a:bodyPr anchor="t" rtlCol="false"/>
                    <a:lstStyle/>
                    <a:p>
                      <a:pPr algn="ctr">
                        <a:lnSpc>
                          <a:spcPts val="2575"/>
                        </a:lnSpc>
                        <a:defRPr/>
                      </a:pPr>
                      <a:r>
                        <a:rPr lang="en-US" sz="1839" b="true">
                          <a:solidFill>
                            <a:srgbClr val="000000"/>
                          </a:solidFill>
                          <a:latin typeface="Helvetica Now Display Bold"/>
                          <a:ea typeface="Helvetica Now Display Bold"/>
                          <a:cs typeface="Helvetica Now Display Bold"/>
                          <a:sym typeface="Helvetica Now Display Bold"/>
                        </a:rPr>
                        <a:t>Location Filtering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75"/>
                        </a:lnSpc>
                        <a:defRPr/>
                      </a:pPr>
                      <a:r>
                        <a:rPr lang="en-US" sz="1839">
                          <a:solidFill>
                            <a:srgbClr val="000000"/>
                          </a:solidFill>
                          <a:latin typeface="Helvetica Now Display"/>
                          <a:ea typeface="Helvetica Now Display"/>
                          <a:cs typeface="Helvetica Now Display"/>
                          <a:sym typeface="Helvetica Now Display"/>
                        </a:rPr>
                        <a:t>PostGIS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32">
                <a:tc>
                  <a:txBody>
                    <a:bodyPr anchor="t" rtlCol="false"/>
                    <a:lstStyle/>
                    <a:p>
                      <a:pPr algn="ctr">
                        <a:lnSpc>
                          <a:spcPts val="2575"/>
                        </a:lnSpc>
                        <a:defRPr/>
                      </a:pPr>
                      <a:r>
                        <a:rPr lang="en-US" sz="1839" b="true">
                          <a:solidFill>
                            <a:srgbClr val="000000"/>
                          </a:solidFill>
                          <a:latin typeface="Helvetica Now Display Bold"/>
                          <a:ea typeface="Helvetica Now Display Bold"/>
                          <a:cs typeface="Helvetica Now Display Bold"/>
                          <a:sym typeface="Helvetica Now Display Bold"/>
                        </a:rPr>
                        <a:t>Backend Framework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75"/>
                        </a:lnSpc>
                        <a:defRPr/>
                      </a:pPr>
                      <a:r>
                        <a:rPr lang="en-US" sz="1839">
                          <a:solidFill>
                            <a:srgbClr val="000000"/>
                          </a:solidFill>
                          <a:latin typeface="Helvetica Now Display"/>
                          <a:ea typeface="Helvetica Now Display"/>
                          <a:cs typeface="Helvetica Now Display"/>
                          <a:sym typeface="Helvetica Now Display"/>
                        </a:rPr>
                        <a:t>NestJS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257456" y="28221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SOFTWARE TOOLS</a:t>
            </a:r>
          </a:p>
        </p:txBody>
      </p:sp>
      <p:sp>
        <p:nvSpPr>
          <p:cNvPr name="TextBox 11" id="11"/>
          <p:cNvSpPr txBox="true"/>
          <p:nvPr/>
        </p:nvSpPr>
        <p:spPr>
          <a:xfrm rot="0">
            <a:off x="-6353593" y="2327580"/>
            <a:ext cx="16258084" cy="542867"/>
          </a:xfrm>
          <a:prstGeom prst="rect">
            <a:avLst/>
          </a:prstGeom>
        </p:spPr>
        <p:txBody>
          <a:bodyPr anchor="t" rtlCol="false" tIns="0" lIns="0" bIns="0" rIns="0">
            <a:spAutoFit/>
          </a:bodyPr>
          <a:lstStyle/>
          <a:p>
            <a:pPr algn="ctr">
              <a:lnSpc>
                <a:spcPts val="4203"/>
              </a:lnSpc>
              <a:spcBef>
                <a:spcPct val="0"/>
              </a:spcBef>
            </a:pPr>
            <a:r>
              <a:rPr lang="en-US" b="true" sz="3002">
                <a:solidFill>
                  <a:srgbClr val="111111"/>
                </a:solidFill>
                <a:latin typeface="Poppins Bold"/>
                <a:ea typeface="Poppins Bold"/>
                <a:cs typeface="Poppins Bold"/>
                <a:sym typeface="Poppins Bold"/>
              </a:rPr>
              <a:t>Task</a:t>
            </a:r>
          </a:p>
        </p:txBody>
      </p:sp>
      <p:sp>
        <p:nvSpPr>
          <p:cNvPr name="TextBox 12" id="12"/>
          <p:cNvSpPr txBox="true"/>
          <p:nvPr/>
        </p:nvSpPr>
        <p:spPr>
          <a:xfrm rot="0">
            <a:off x="9561769" y="2327580"/>
            <a:ext cx="2600474" cy="542867"/>
          </a:xfrm>
          <a:prstGeom prst="rect">
            <a:avLst/>
          </a:prstGeom>
        </p:spPr>
        <p:txBody>
          <a:bodyPr anchor="t" rtlCol="false" tIns="0" lIns="0" bIns="0" rIns="0">
            <a:spAutoFit/>
          </a:bodyPr>
          <a:lstStyle/>
          <a:p>
            <a:pPr algn="ctr">
              <a:lnSpc>
                <a:spcPts val="4203"/>
              </a:lnSpc>
              <a:spcBef>
                <a:spcPct val="0"/>
              </a:spcBef>
            </a:pPr>
            <a:r>
              <a:rPr lang="en-US" b="true" sz="3002">
                <a:solidFill>
                  <a:srgbClr val="111111"/>
                </a:solidFill>
                <a:latin typeface="Poppins Bold"/>
                <a:ea typeface="Poppins Bold"/>
                <a:cs typeface="Poppins Bold"/>
                <a:sym typeface="Poppins Bold"/>
              </a:rPr>
              <a:t>Selected Tool</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AutoShape 8" id="8"/>
          <p:cNvSpPr/>
          <p:nvPr/>
        </p:nvSpPr>
        <p:spPr>
          <a:xfrm>
            <a:off x="6140006" y="1594480"/>
            <a:ext cx="5026247" cy="0"/>
          </a:xfrm>
          <a:prstGeom prst="line">
            <a:avLst/>
          </a:prstGeom>
          <a:ln cap="rnd" w="38100">
            <a:solidFill>
              <a:srgbClr val="FF5400"/>
            </a:solidFill>
            <a:prstDash val="solid"/>
            <a:headEnd type="none" len="sm" w="sm"/>
            <a:tailEnd type="none" len="sm" w="sm"/>
          </a:ln>
        </p:spPr>
      </p:sp>
      <p:sp>
        <p:nvSpPr>
          <p:cNvPr name="TextBox 9" id="9"/>
          <p:cNvSpPr txBox="true"/>
          <p:nvPr/>
        </p:nvSpPr>
        <p:spPr>
          <a:xfrm rot="0">
            <a:off x="1257456" y="282219"/>
            <a:ext cx="15078741" cy="1135138"/>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WHY THESE TOOLS?</a:t>
            </a:r>
          </a:p>
        </p:txBody>
      </p:sp>
      <p:sp>
        <p:nvSpPr>
          <p:cNvPr name="TextBox 10" id="10"/>
          <p:cNvSpPr txBox="true"/>
          <p:nvPr/>
        </p:nvSpPr>
        <p:spPr>
          <a:xfrm rot="0">
            <a:off x="1028700" y="2219945"/>
            <a:ext cx="6105376" cy="516832"/>
          </a:xfrm>
          <a:prstGeom prst="rect">
            <a:avLst/>
          </a:prstGeom>
        </p:spPr>
        <p:txBody>
          <a:bodyPr anchor="t" rtlCol="false" tIns="0" lIns="0" bIns="0" rIns="0">
            <a:spAutoFit/>
          </a:bodyPr>
          <a:lstStyle/>
          <a:p>
            <a:pPr algn="ctr">
              <a:lnSpc>
                <a:spcPts val="4063"/>
              </a:lnSpc>
              <a:spcBef>
                <a:spcPct val="0"/>
              </a:spcBef>
            </a:pPr>
            <a:r>
              <a:rPr lang="en-US" b="true" sz="2902">
                <a:solidFill>
                  <a:srgbClr val="111111"/>
                </a:solidFill>
                <a:latin typeface="Poppins Bold"/>
                <a:ea typeface="Poppins Bold"/>
                <a:cs typeface="Poppins Bold"/>
                <a:sym typeface="Poppins Bold"/>
              </a:rPr>
              <a:t>Selection C</a:t>
            </a:r>
            <a:r>
              <a:rPr lang="en-US" b="true" sz="2902">
                <a:solidFill>
                  <a:srgbClr val="111111"/>
                </a:solidFill>
                <a:latin typeface="Poppins Bold"/>
                <a:ea typeface="Poppins Bold"/>
                <a:cs typeface="Poppins Bold"/>
                <a:sym typeface="Poppins Bold"/>
              </a:rPr>
              <a:t>riteria &amp; Justification</a:t>
            </a:r>
          </a:p>
        </p:txBody>
      </p:sp>
      <p:sp>
        <p:nvSpPr>
          <p:cNvPr name="TextBox 11" id="11"/>
          <p:cNvSpPr txBox="true"/>
          <p:nvPr/>
        </p:nvSpPr>
        <p:spPr>
          <a:xfrm rot="0">
            <a:off x="668213" y="3199066"/>
            <a:ext cx="12542873" cy="103118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•Cost Efficiency: </a:t>
            </a:r>
            <a:r>
              <a:rPr lang="en-US" sz="2902">
                <a:solidFill>
                  <a:srgbClr val="111111"/>
                </a:solidFill>
                <a:latin typeface="Poppins"/>
                <a:ea typeface="Poppins"/>
                <a:cs typeface="Poppins"/>
                <a:sym typeface="Poppins"/>
              </a:rPr>
              <a:t>Most selected tools </a:t>
            </a:r>
            <a:r>
              <a:rPr lang="en-US" sz="2902">
                <a:solidFill>
                  <a:srgbClr val="111111"/>
                </a:solidFill>
                <a:latin typeface="Poppins"/>
                <a:ea typeface="Poppins"/>
                <a:cs typeface="Poppins"/>
                <a:sym typeface="Poppins"/>
              </a:rPr>
              <a:t>are open-source and reduce project expenses</a:t>
            </a:r>
          </a:p>
        </p:txBody>
      </p:sp>
      <p:sp>
        <p:nvSpPr>
          <p:cNvPr name="TextBox 12" id="12"/>
          <p:cNvSpPr txBox="true"/>
          <p:nvPr/>
        </p:nvSpPr>
        <p:spPr>
          <a:xfrm rot="0">
            <a:off x="355763" y="4839848"/>
            <a:ext cx="10810490" cy="103118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•Scalability</a:t>
            </a:r>
            <a:r>
              <a:rPr lang="en-US" sz="2902">
                <a:solidFill>
                  <a:srgbClr val="111111"/>
                </a:solidFill>
                <a:latin typeface="Poppins"/>
                <a:ea typeface="Poppins"/>
                <a:cs typeface="Poppins"/>
                <a:sym typeface="Poppins"/>
              </a:rPr>
              <a:t>: The selected technologies support future system growth.</a:t>
            </a:r>
          </a:p>
        </p:txBody>
      </p:sp>
      <p:sp>
        <p:nvSpPr>
          <p:cNvPr name="TextBox 13" id="13"/>
          <p:cNvSpPr txBox="true"/>
          <p:nvPr/>
        </p:nvSpPr>
        <p:spPr>
          <a:xfrm rot="0">
            <a:off x="668213" y="6336187"/>
            <a:ext cx="10810490" cy="103118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•Integration</a:t>
            </a:r>
            <a:r>
              <a:rPr lang="en-US" sz="2902">
                <a:solidFill>
                  <a:srgbClr val="111111"/>
                </a:solidFill>
                <a:latin typeface="Poppins"/>
                <a:ea typeface="Poppins"/>
                <a:cs typeface="Poppins"/>
                <a:sym typeface="Poppins"/>
              </a:rPr>
              <a:t>: All tools work well together within the same architecture.</a:t>
            </a:r>
          </a:p>
        </p:txBody>
      </p:sp>
      <p:sp>
        <p:nvSpPr>
          <p:cNvPr name="TextBox 14" id="14"/>
          <p:cNvSpPr txBox="true"/>
          <p:nvPr/>
        </p:nvSpPr>
        <p:spPr>
          <a:xfrm rot="0">
            <a:off x="668213" y="7976969"/>
            <a:ext cx="13836558" cy="1031182"/>
          </a:xfrm>
          <a:prstGeom prst="rect">
            <a:avLst/>
          </a:prstGeom>
        </p:spPr>
        <p:txBody>
          <a:bodyPr anchor="t" rtlCol="false" tIns="0" lIns="0" bIns="0" rIns="0">
            <a:spAutoFit/>
          </a:bodyPr>
          <a:lstStyle/>
          <a:p>
            <a:pPr algn="ctr">
              <a:lnSpc>
                <a:spcPts val="4063"/>
              </a:lnSpc>
              <a:spcBef>
                <a:spcPct val="0"/>
              </a:spcBef>
            </a:pPr>
            <a:r>
              <a:rPr lang="en-US" sz="2902">
                <a:solidFill>
                  <a:srgbClr val="111111"/>
                </a:solidFill>
                <a:latin typeface="Poppins"/>
                <a:ea typeface="Poppins"/>
                <a:cs typeface="Poppins"/>
                <a:sym typeface="Poppins"/>
              </a:rPr>
              <a:t>•Functionality</a:t>
            </a:r>
            <a:r>
              <a:rPr lang="en-US" sz="2902">
                <a:solidFill>
                  <a:srgbClr val="111111"/>
                </a:solidFill>
                <a:latin typeface="Poppins"/>
                <a:ea typeface="Poppins"/>
                <a:cs typeface="Poppins"/>
                <a:sym typeface="Poppins"/>
              </a:rPr>
              <a:t>: The tools provide strong technical capabilities for project requirements.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AutoShape 8" id="8"/>
          <p:cNvSpPr/>
          <p:nvPr/>
        </p:nvSpPr>
        <p:spPr>
          <a:xfrm>
            <a:off x="6283703" y="1436429"/>
            <a:ext cx="5026247" cy="0"/>
          </a:xfrm>
          <a:prstGeom prst="line">
            <a:avLst/>
          </a:prstGeom>
          <a:ln cap="rnd" w="38100">
            <a:solidFill>
              <a:srgbClr val="FF5400"/>
            </a:solidFill>
            <a:prstDash val="solid"/>
            <a:headEnd type="none" len="sm" w="sm"/>
            <a:tailEnd type="none" len="sm" w="sm"/>
          </a:ln>
        </p:spPr>
      </p:sp>
      <p:sp>
        <p:nvSpPr>
          <p:cNvPr name="Freeform 9" id="9"/>
          <p:cNvSpPr/>
          <p:nvPr/>
        </p:nvSpPr>
        <p:spPr>
          <a:xfrm flipH="false" flipV="false" rot="0">
            <a:off x="845442" y="1730714"/>
            <a:ext cx="3314209" cy="6718019"/>
          </a:xfrm>
          <a:custGeom>
            <a:avLst/>
            <a:gdLst/>
            <a:ahLst/>
            <a:cxnLst/>
            <a:rect r="r" b="b" t="t" l="l"/>
            <a:pathLst>
              <a:path h="6718019" w="3314209">
                <a:moveTo>
                  <a:pt x="0" y="0"/>
                </a:moveTo>
                <a:lnTo>
                  <a:pt x="3314209" y="0"/>
                </a:lnTo>
                <a:lnTo>
                  <a:pt x="3314209" y="6718018"/>
                </a:lnTo>
                <a:lnTo>
                  <a:pt x="0" y="6718018"/>
                </a:lnTo>
                <a:lnTo>
                  <a:pt x="0" y="0"/>
                </a:lnTo>
                <a:close/>
              </a:path>
            </a:pathLst>
          </a:custGeom>
          <a:blipFill>
            <a:blip r:embed="rId2"/>
            <a:stretch>
              <a:fillRect l="-31046" t="-2600" r="-26360" b="-1444"/>
            </a:stretch>
          </a:blipFill>
        </p:spPr>
      </p:sp>
      <p:sp>
        <p:nvSpPr>
          <p:cNvPr name="Freeform 10" id="10"/>
          <p:cNvSpPr/>
          <p:nvPr/>
        </p:nvSpPr>
        <p:spPr>
          <a:xfrm flipH="false" flipV="false" rot="0">
            <a:off x="5369326" y="1762959"/>
            <a:ext cx="3427500" cy="6589038"/>
          </a:xfrm>
          <a:custGeom>
            <a:avLst/>
            <a:gdLst/>
            <a:ahLst/>
            <a:cxnLst/>
            <a:rect r="r" b="b" t="t" l="l"/>
            <a:pathLst>
              <a:path h="6589038" w="3427500">
                <a:moveTo>
                  <a:pt x="0" y="0"/>
                </a:moveTo>
                <a:lnTo>
                  <a:pt x="3427500" y="0"/>
                </a:lnTo>
                <a:lnTo>
                  <a:pt x="3427500" y="6589038"/>
                </a:lnTo>
                <a:lnTo>
                  <a:pt x="0" y="6589038"/>
                </a:lnTo>
                <a:lnTo>
                  <a:pt x="0" y="0"/>
                </a:lnTo>
                <a:close/>
              </a:path>
            </a:pathLst>
          </a:custGeom>
          <a:blipFill>
            <a:blip r:embed="rId3"/>
            <a:stretch>
              <a:fillRect l="-16410" t="-3691" r="-35651" b="-2292"/>
            </a:stretch>
          </a:blipFill>
        </p:spPr>
      </p:sp>
      <p:sp>
        <p:nvSpPr>
          <p:cNvPr name="Freeform 11" id="11"/>
          <p:cNvSpPr/>
          <p:nvPr/>
        </p:nvSpPr>
        <p:spPr>
          <a:xfrm flipH="false" flipV="false" rot="0">
            <a:off x="10006736" y="1633978"/>
            <a:ext cx="3434139" cy="6718019"/>
          </a:xfrm>
          <a:custGeom>
            <a:avLst/>
            <a:gdLst/>
            <a:ahLst/>
            <a:cxnLst/>
            <a:rect r="r" b="b" t="t" l="l"/>
            <a:pathLst>
              <a:path h="6718019" w="3434139">
                <a:moveTo>
                  <a:pt x="0" y="0"/>
                </a:moveTo>
                <a:lnTo>
                  <a:pt x="3434139" y="0"/>
                </a:lnTo>
                <a:lnTo>
                  <a:pt x="3434139" y="6718019"/>
                </a:lnTo>
                <a:lnTo>
                  <a:pt x="0" y="6718019"/>
                </a:lnTo>
                <a:lnTo>
                  <a:pt x="0" y="0"/>
                </a:lnTo>
                <a:close/>
              </a:path>
            </a:pathLst>
          </a:custGeom>
          <a:blipFill>
            <a:blip r:embed="rId4"/>
            <a:stretch>
              <a:fillRect l="-19221" t="-1773" r="-14133" b="-2414"/>
            </a:stretch>
          </a:blipFill>
        </p:spPr>
      </p:sp>
      <p:sp>
        <p:nvSpPr>
          <p:cNvPr name="Freeform 12" id="12"/>
          <p:cNvSpPr/>
          <p:nvPr/>
        </p:nvSpPr>
        <p:spPr>
          <a:xfrm flipH="false" flipV="false" rot="0">
            <a:off x="14650550" y="1762959"/>
            <a:ext cx="3370824" cy="6653528"/>
          </a:xfrm>
          <a:custGeom>
            <a:avLst/>
            <a:gdLst/>
            <a:ahLst/>
            <a:cxnLst/>
            <a:rect r="r" b="b" t="t" l="l"/>
            <a:pathLst>
              <a:path h="6653528" w="3370824">
                <a:moveTo>
                  <a:pt x="0" y="0"/>
                </a:moveTo>
                <a:lnTo>
                  <a:pt x="3370824" y="0"/>
                </a:lnTo>
                <a:lnTo>
                  <a:pt x="3370824" y="6653528"/>
                </a:lnTo>
                <a:lnTo>
                  <a:pt x="0" y="6653528"/>
                </a:lnTo>
                <a:lnTo>
                  <a:pt x="0" y="0"/>
                </a:lnTo>
                <a:close/>
              </a:path>
            </a:pathLst>
          </a:custGeom>
          <a:blipFill>
            <a:blip r:embed="rId5"/>
            <a:stretch>
              <a:fillRect l="-19732" t="-3259" r="-16126" b="-1938"/>
            </a:stretch>
          </a:blipFill>
        </p:spPr>
      </p:sp>
      <p:sp>
        <p:nvSpPr>
          <p:cNvPr name="TextBox 13" id="13"/>
          <p:cNvSpPr txBox="true"/>
          <p:nvPr/>
        </p:nvSpPr>
        <p:spPr>
          <a:xfrm rot="0">
            <a:off x="1257456" y="282197"/>
            <a:ext cx="15078741" cy="1135182"/>
          </a:xfrm>
          <a:prstGeom prst="rect">
            <a:avLst/>
          </a:prstGeom>
        </p:spPr>
        <p:txBody>
          <a:bodyPr anchor="t" rtlCol="false" tIns="0" lIns="0" bIns="0" rIns="0">
            <a:spAutoFit/>
          </a:bodyPr>
          <a:lstStyle/>
          <a:p>
            <a:pPr algn="ctr" marL="0" indent="0" lvl="0">
              <a:lnSpc>
                <a:spcPts val="7318"/>
              </a:lnSpc>
              <a:spcBef>
                <a:spcPct val="0"/>
              </a:spcBef>
            </a:pPr>
            <a:r>
              <a:rPr lang="en-US" sz="6653">
                <a:solidFill>
                  <a:srgbClr val="111111"/>
                </a:solidFill>
                <a:latin typeface="Agrandir"/>
                <a:ea typeface="Agrandir"/>
                <a:cs typeface="Agrandir"/>
                <a:sym typeface="Agrandir"/>
              </a:rPr>
              <a:t>GUI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57056" y="7508685"/>
            <a:ext cx="3204489" cy="3204489"/>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FF5400">
                <a:alpha val="40000"/>
              </a:srgbClr>
            </a:solidFill>
          </p:spPr>
        </p:sp>
      </p:grpSp>
      <p:grpSp>
        <p:nvGrpSpPr>
          <p:cNvPr name="Group 4" id="4"/>
          <p:cNvGrpSpPr/>
          <p:nvPr/>
        </p:nvGrpSpPr>
        <p:grpSpPr>
          <a:xfrm rot="0">
            <a:off x="-186534" y="7367369"/>
            <a:ext cx="4326462" cy="4326462"/>
            <a:chOff x="0" y="0"/>
            <a:chExt cx="635000" cy="635000"/>
          </a:xfrm>
        </p:grpSpPr>
        <p:sp>
          <p:nvSpPr>
            <p:cNvPr name="Freeform 5" id="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FF5400">
                <a:alpha val="40000"/>
              </a:srgbClr>
            </a:solidFill>
          </p:spPr>
        </p:sp>
      </p:grpSp>
      <p:grpSp>
        <p:nvGrpSpPr>
          <p:cNvPr name="Group 6" id="6"/>
          <p:cNvGrpSpPr/>
          <p:nvPr/>
        </p:nvGrpSpPr>
        <p:grpSpPr>
          <a:xfrm rot="0">
            <a:off x="14140612" y="-1587031"/>
            <a:ext cx="6008775" cy="6008775"/>
            <a:chOff x="0" y="0"/>
            <a:chExt cx="1524000" cy="1524000"/>
          </a:xfrm>
        </p:grpSpPr>
        <p:sp>
          <p:nvSpPr>
            <p:cNvPr name="Freeform 7" id="7"/>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FF5400">
                <a:alpha val="11765"/>
              </a:srgbClr>
            </a:solidFill>
          </p:spPr>
        </p:sp>
      </p:grpSp>
      <p:sp>
        <p:nvSpPr>
          <p:cNvPr name="Freeform 8" id="8"/>
          <p:cNvSpPr/>
          <p:nvPr/>
        </p:nvSpPr>
        <p:spPr>
          <a:xfrm flipH="false" flipV="false" rot="0">
            <a:off x="14316506" y="5143500"/>
            <a:ext cx="4140041" cy="5224027"/>
          </a:xfrm>
          <a:custGeom>
            <a:avLst/>
            <a:gdLst/>
            <a:ahLst/>
            <a:cxnLst/>
            <a:rect r="r" b="b" t="t" l="l"/>
            <a:pathLst>
              <a:path h="5224027" w="4140041">
                <a:moveTo>
                  <a:pt x="0" y="0"/>
                </a:moveTo>
                <a:lnTo>
                  <a:pt x="4140041" y="0"/>
                </a:lnTo>
                <a:lnTo>
                  <a:pt x="4140041" y="5224027"/>
                </a:lnTo>
                <a:lnTo>
                  <a:pt x="0" y="52240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657056" y="5952820"/>
            <a:ext cx="1280538" cy="1220408"/>
          </a:xfrm>
          <a:custGeom>
            <a:avLst/>
            <a:gdLst/>
            <a:ahLst/>
            <a:cxnLst/>
            <a:rect r="r" b="b" t="t" l="l"/>
            <a:pathLst>
              <a:path h="1220408" w="1280538">
                <a:moveTo>
                  <a:pt x="0" y="0"/>
                </a:moveTo>
                <a:lnTo>
                  <a:pt x="1280537" y="0"/>
                </a:lnTo>
                <a:lnTo>
                  <a:pt x="1280537" y="1220408"/>
                </a:lnTo>
                <a:lnTo>
                  <a:pt x="0" y="1220408"/>
                </a:lnTo>
                <a:lnTo>
                  <a:pt x="0" y="0"/>
                </a:lnTo>
                <a:close/>
              </a:path>
            </a:pathLst>
          </a:custGeom>
          <a:blipFill>
            <a:blip r:embed="rId4"/>
            <a:stretch>
              <a:fillRect l="-35045" t="-29472" r="-46142" b="0"/>
            </a:stretch>
          </a:blipFill>
        </p:spPr>
      </p:sp>
      <p:sp>
        <p:nvSpPr>
          <p:cNvPr name="TextBox 10" id="10"/>
          <p:cNvSpPr txBox="true"/>
          <p:nvPr/>
        </p:nvSpPr>
        <p:spPr>
          <a:xfrm rot="0">
            <a:off x="2338138" y="3723893"/>
            <a:ext cx="13002453" cy="1252827"/>
          </a:xfrm>
          <a:prstGeom prst="rect">
            <a:avLst/>
          </a:prstGeom>
        </p:spPr>
        <p:txBody>
          <a:bodyPr anchor="t" rtlCol="false" tIns="0" lIns="0" bIns="0" rIns="0">
            <a:spAutoFit/>
          </a:bodyPr>
          <a:lstStyle/>
          <a:p>
            <a:pPr algn="ctr">
              <a:lnSpc>
                <a:spcPts val="10220"/>
              </a:lnSpc>
            </a:pPr>
            <a:r>
              <a:rPr lang="en-US" sz="7300" b="true">
                <a:solidFill>
                  <a:srgbClr val="000000"/>
                </a:solidFill>
                <a:latin typeface="Playfair Display Bold"/>
                <a:ea typeface="Playfair Display Bold"/>
                <a:cs typeface="Playfair Display Bold"/>
                <a:sym typeface="Playfair Display Bold"/>
              </a:rPr>
              <a:t>THANK YOU FOR LISTENING!</a:t>
            </a:r>
          </a:p>
        </p:txBody>
      </p:sp>
      <p:sp>
        <p:nvSpPr>
          <p:cNvPr name="TextBox 11" id="11"/>
          <p:cNvSpPr txBox="true"/>
          <p:nvPr/>
        </p:nvSpPr>
        <p:spPr>
          <a:xfrm rot="0">
            <a:off x="7649476" y="5445497"/>
            <a:ext cx="2989048" cy="580365"/>
          </a:xfrm>
          <a:prstGeom prst="rect">
            <a:avLst/>
          </a:prstGeom>
        </p:spPr>
        <p:txBody>
          <a:bodyPr anchor="t" rtlCol="false" tIns="0" lIns="0" bIns="0" rIns="0">
            <a:spAutoFit/>
          </a:bodyPr>
          <a:lstStyle/>
          <a:p>
            <a:pPr algn="ctr">
              <a:lnSpc>
                <a:spcPts val="4763"/>
              </a:lnSpc>
              <a:spcBef>
                <a:spcPct val="0"/>
              </a:spcBef>
            </a:pPr>
            <a:r>
              <a:rPr lang="en-US" sz="3402">
                <a:solidFill>
                  <a:srgbClr val="000000"/>
                </a:solidFill>
                <a:latin typeface="Playfair Display"/>
                <a:ea typeface="Playfair Display"/>
                <a:cs typeface="Playfair Display"/>
                <a:sym typeface="Playfair Display"/>
              </a:rPr>
              <a:t>Any</a:t>
            </a:r>
            <a:r>
              <a:rPr lang="en-US" sz="3402">
                <a:solidFill>
                  <a:srgbClr val="000000"/>
                </a:solidFill>
                <a:latin typeface="Playfair Display"/>
                <a:ea typeface="Playfair Display"/>
                <a:cs typeface="Playfair Display"/>
                <a:sym typeface="Playfair Display"/>
              </a:rPr>
              <a:t> Questions?</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DAHKUQL7O2M</dc:identifier>
  <dcterms:modified xsi:type="dcterms:W3CDTF">2011-08-01T06:04:30Z</dcterms:modified>
  <cp:revision>1</cp:revision>
  <dc:title>Öğrenciler İçin Kariyer Platformu</dc:title>
</cp:coreProperties>
</file>